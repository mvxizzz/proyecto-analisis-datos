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2" r:id="rId8"/>
    <p:sldId id="266" r:id="rId12"/>
    <p:sldId id="267" r:id="rId13"/>
    <p:sldId id="275" r:id="rId21"/>
    <p:sldId id="269" r:id="rId15"/>
    <p:sldId id="271" r:id="rId17"/>
    <p:sldId id="272" r:id="rId18"/>
    <p:sldId id="273" r:id="rId19"/>
    <p:sldId id="274" r:id="rId20"/>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8" Type="http://schemas.openxmlformats.org/officeDocument/2006/relationships/slide" Target="slides/slide7.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Max (15 s). Idea clave: qué es el CUP. Somos Bastián, Agustín y Max. Estudiamos el cáncer de origen primario desconocido, o CUP: el paciente llega con metástasis y no se sabe dónde empezó el tumor.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Max (40 s). Idea clave: el CUP es grave y poco visible. Sin el tumor de origen no hay tratamiento dirigido ni un equipo que lo tome. Mueren 22 de cada 100 hospitalizados. Nuestro dashboard es para los equipos de gestión de la red pública: muestra cuánto pesa el CUP, cómo se atiende y si le va peor que a otros cánceres con metástasis.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Bastián (45 s). Idea clave: siete años de hospitalizaciones públicas. Usamos las bases GRD de FONASA de 2019 a 2025; cada fila es una hospitalización. De 6,9 millones nos quedamos con 60.816 de adultos en nuestros grupos; 3.889 son CUP. Los datos vienen casi completos, y las estadías muy largas las dejamos y usamos medianas. Limitación: solo hospitales públicos y solo muertes dentro del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Bastián (35 s). Idea clave: comparamos el CUP con cinco cánceres con metástasis. El CUP es el código C80.0. Lo comparamos con pulmón, colorrectal, mama, próstata y gástrico cuando tienen metástasis. El C80.9 lo revisamos aparte, como pidió la profesora, y da el mismo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Bastián (40 s). Idea clave: unas 560 hospitalizaciones al año, y la mortalidad no baja. Bajaron con la pandemia y en 2025 ya superan a 2019. Equivalen a 22 camas ocupadas todo el año. La mortalidad se mantiene entre 20 y 23 de cada 100. Ahora Agustín muestra cómo le va al CUP frente a los otros cánceres.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Agustín (35 s). Idea clave: el CUP muere tanto como pulmón. Cada cuadrado es 1 de cada 100 hospitalizaciones; en naranjo, las que terminan en muerte. En el CUP son 22, igual que en pulmón y más del doble que en mama o colorrectal. La diferencia es estadísticamente significativa.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Agustín (40 s). Idea clave: no es solo porque llegue más grave. Nos preguntamos: si todos los pacientes tuvieran la misma edad, sexo y gravedad, ¿cuántos morirían? El CUP tendría 15 de cada 100, y colorrectal o próstata, 10. Aun con el mismo perfil, el CUP muere una vez y media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Agustín (40 s). Idea clave: depende de la región. Son tres mapas; más oscuro es más alto. En Antofagasta y Los Ríos, oncología atiende a 17 de cada 100 pacientes CUP; en Santiago, a 2. En el extremo sur el CUP pesa el doble que en el país. La mortalidad cambia poco entre regiones. Ahora Max muestra el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Max (45 s). Idea clave: un tablero con los datos clave, no un informe. Arriba van los filtros: año, región, hospital, sexo y edad. Luego los indicadores, con su cambio frente al año anterior. Al centro las metástasis, la evolución y el mapa; abajo, el perfil y la comparación con los otros cánceres. Cada gráfico que mostramos es un panel del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Bastián (30 s). Idea clave: seis semanas hasta la entrega. En las semanas 9 a 11 avanzamos en paralelo con la estadística y con la construcción del dashboard. La semana 12 es la revisión de avances, la 13 es de pruebas y la 14 es la entrega final: presentación, informe y póster.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Max (20 s). Idea clave: un rol por persona. Bastián: datos y análisis. Agustín: gráficos e interpretación. Yo: el dashboard. Nos coordinamos con un repositorio compartido y una reunión semanal.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Presentan: los tres (30 s), una idea cada uno. Max: el CUP muere tanto como pulmón, 22 de cada 100. Bastián: casi no pasa por oncología, solo 5 de cada 100. Agustín: aun con el mismo perfil, muere una vez y media más que colorrectal. 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Agustín (35 s). Idea clave: el CUP casi no pasa por oncología. Lo atiende sobre todo medicina interna: 46 de cada 100. Oncología le da el alta solo a 5 de cada 100, la cifra más baja; en colorrectal son 22. El CUP queda fuera del circuito del cáncer.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C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C1A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7934"/>
            <a:ext cx="10566400" cy="4267266"/>
          </a:xfrm>
          <a:prstGeom prst="rect">
            <a:avLst/>
          </a:prstGeom>
          <a:noFill/>
          <a:ln/>
        </p:spPr>
        <p:txBody>
          <a:bodyPr wrap="square" lIns="0" tIns="0" rIns="0" bIns="0" rtlCol="0" anchor="t"/>
          <a:lstStyle>
            <a:lvl1pPr algn="l" indent="0" marL="0">
              <a:lnSpc>
                <a:spcPct val="140000"/>
              </a:lnSpc>
              <a:buNone/>
              <a:defRPr lang="en-US" sz="1600" dirty="0">
                <a:solidFill>
                  <a:srgbClr val="1C1A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C1A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7934"/>
            <a:ext cx="10566400" cy="4267266"/>
          </a:xfrm>
          <a:prstGeom prst="rect">
            <a:avLst/>
          </a:prstGeom>
          <a:noFill/>
          <a:ln/>
        </p:spPr>
        <p:txBody>
          <a:bodyPr wrap="square" lIns="0" tIns="0" rIns="0" bIns="0" rtlCol="0" anchor="t"/>
          <a:lstStyle>
            <a:lvl1pPr algn="l" indent="0" marL="0">
              <a:lnSpc>
                <a:spcPct val="140000"/>
              </a:lnSpc>
              <a:buNone/>
              <a:defRPr lang="en-US" sz="1600" dirty="0">
                <a:solidFill>
                  <a:srgbClr val="1C1A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A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C9C3EF"/>
                </a:solidFill>
                <a:latin typeface="IBM Plex Sans" pitchFamily="34" charset="0"/>
                <a:ea typeface="IBM Plex Sans" pitchFamily="34" charset="-122"/>
                <a:cs typeface="IBM Plex Sans" pitchFamily="34" charset="-120"/>
              </a:rPr>
              <a:t>ANÁLISIS DE DATOS E INFERENCIA ESTADÍSTICA · UDD · PRIMER AVANCE</a:t>
            </a:r>
            <a:endParaRPr lang="en-US" sz="1400" dirty="0"/>
          </a:p>
        </p:txBody>
      </p:sp>
      <p:sp>
        <p:nvSpPr>
          <p:cNvPr id="3" name="Text 1"/>
          <p:cNvSpPr/>
          <p:nvPr>
            <p:ph type="title"/>
          </p:nvPr>
        </p:nvSpPr>
        <p:spPr>
          <a:xfrm>
            <a:off x="812800" y="1315707"/>
            <a:ext cx="9810750" cy="2000448"/>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CFCFB"/>
                </a:solidFill>
                <a:latin typeface="Source Serif 4" pitchFamily="18" charset="0"/>
                <a:ea typeface="Source Serif 4" pitchFamily="18" charset="-122"/>
                <a:cs typeface="Source Serif 4" pitchFamily="18" charset="-120"/>
              </a:rPr>
              <a:t>Cáncer de origen primario desconocido en la red pública chilena</a:t>
            </a:r>
            <a:endParaRPr lang="en-US" sz="4800" dirty="0"/>
          </a:p>
        </p:txBody>
      </p:sp>
      <p:sp>
        <p:nvSpPr>
          <p:cNvPr id="4" name="Text 2"/>
          <p:cNvSpPr/>
          <p:nvPr/>
        </p:nvSpPr>
        <p:spPr>
          <a:xfrm>
            <a:off x="812800" y="3544755"/>
            <a:ext cx="91567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3EF"/>
                </a:solidFill>
                <a:latin typeface="IBM Plex Sans" pitchFamily="34" charset="0"/>
                <a:ea typeface="IBM Plex Sans" pitchFamily="34" charset="-122"/>
                <a:cs typeface="IBM Plex Sans" pitchFamily="34" charset="-120"/>
              </a:rPr>
              <a:t>Egresos hospitalarios GRD 2019–2025 y la propuesta del Dashboard CUP Chile</a:t>
            </a:r>
            <a:endParaRPr lang="en-US" sz="1800" dirty="0"/>
          </a:p>
        </p:txBody>
      </p:sp>
      <p:sp>
        <p:nvSpPr>
          <p:cNvPr id="5" name="Text 3"/>
          <p:cNvSpPr/>
          <p:nvPr/>
        </p:nvSpPr>
        <p:spPr>
          <a:xfrm>
            <a:off x="812800" y="5760773"/>
            <a:ext cx="5597366"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CFCFB"/>
                </a:solidFill>
                <a:latin typeface="IBM Plex Sans" pitchFamily="34" charset="0"/>
                <a:ea typeface="IBM Plex Sans" pitchFamily="34" charset="-122"/>
                <a:cs typeface="IBM Plex Sans" pitchFamily="34" charset="-120"/>
              </a:rPr>
              <a:t>Bastián Campos · Maximiliano Mella · Agustín Tapia</a:t>
            </a:r>
            <a:endParaRPr lang="en-US" sz="1600" dirty="0"/>
          </a:p>
        </p:txBody>
      </p:sp>
      <p:sp>
        <p:nvSpPr>
          <p:cNvPr id="6" name="Text 4"/>
          <p:cNvSpPr/>
          <p:nvPr/>
        </p:nvSpPr>
        <p:spPr>
          <a:xfrm>
            <a:off x="10044192" y="5796293"/>
            <a:ext cx="1335008"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C3EF"/>
                </a:solidFill>
                <a:latin typeface="IBM Plex Sans" pitchFamily="34" charset="0"/>
                <a:ea typeface="IBM Plex Sans" pitchFamily="34" charset="-122"/>
                <a:cs typeface="IBM Plex Sans" pitchFamily="34" charset="-120"/>
              </a:rPr>
              <a:t>Octubre 2026</a:t>
            </a:r>
            <a:endParaRPr lang="en-US" sz="1400" dirty="0"/>
          </a:p>
        </p:txBody>
      </p:sp>
      <p:sp>
        <p:nvSpPr>
          <p:cNvPr id="7" name="Shape 5"/>
          <p:cNvSpPr/>
          <p:nvPr/>
        </p:nvSpPr>
        <p:spPr>
          <a:xfrm>
            <a:off x="812800" y="609600"/>
            <a:ext cx="762000" cy="50800"/>
          </a:xfrm>
          <a:prstGeom prst="roundRect">
            <a:avLst>
              <a:gd name="adj" fmla="val 50000"/>
            </a:avLst>
          </a:prstGeom>
          <a:solidFill>
            <a:srgbClr val="7B6FD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3AA7"/>
                </a:solidFill>
                <a:latin typeface="IBM Plex Sans" pitchFamily="34" charset="0"/>
                <a:ea typeface="IBM Plex Sans" pitchFamily="34" charset="-122"/>
                <a:cs typeface="IBM Plex Sans" pitchFamily="34" charset="-120"/>
              </a:rPr>
              <a:t>TEMA Y PROBLEMA</a:t>
            </a:r>
            <a:endParaRPr lang="en-US" sz="1200" dirty="0"/>
          </a:p>
        </p:txBody>
      </p:sp>
      <p:sp>
        <p:nvSpPr>
          <p:cNvPr id="3" name="Text 1"/>
          <p:cNvSpPr/>
          <p:nvPr>
            <p:ph type="title"/>
          </p:nvPr>
        </p:nvSpPr>
        <p:spPr>
          <a:xfrm>
            <a:off x="812800" y="102612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2E"/>
                </a:solidFill>
                <a:latin typeface="Source Serif 4" pitchFamily="18" charset="0"/>
                <a:ea typeface="Source Serif 4" pitchFamily="18" charset="-122"/>
                <a:cs typeface="Source Serif 4" pitchFamily="18" charset="-120"/>
              </a:rPr>
              <a:t>Un cáncer que llega con metástasis y sin origen conocido</a:t>
            </a:r>
            <a:endParaRPr lang="en-US" sz="3200" dirty="0"/>
          </a:p>
        </p:txBody>
      </p:sp>
      <p:sp>
        <p:nvSpPr>
          <p:cNvPr id="4" name="Shape 2"/>
          <p:cNvSpPr/>
          <p:nvPr/>
        </p:nvSpPr>
        <p:spPr>
          <a:xfrm>
            <a:off x="812800" y="2275748"/>
            <a:ext cx="5181600" cy="1523934"/>
          </a:xfrm>
          <a:prstGeom prst="roundRect">
            <a:avLst>
              <a:gd name="adj" fmla="val 6667"/>
            </a:avLst>
          </a:prstGeom>
          <a:solidFill>
            <a:srgbClr val="F2F0F9"/>
          </a:solidFill>
          <a:ln/>
        </p:spPr>
      </p:sp>
      <p:sp>
        <p:nvSpPr>
          <p:cNvPr id="5" name="Text 3"/>
          <p:cNvSpPr/>
          <p:nvPr/>
        </p:nvSpPr>
        <p:spPr>
          <a:xfrm>
            <a:off x="1041400" y="2504348"/>
            <a:ext cx="48661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3AA7"/>
                </a:solidFill>
                <a:latin typeface="IBM Plex Sans" pitchFamily="34" charset="0"/>
                <a:ea typeface="IBM Plex Sans" pitchFamily="34" charset="-122"/>
                <a:cs typeface="IBM Plex Sans" pitchFamily="34" charset="-120"/>
              </a:rPr>
              <a:t>Problema</a:t>
            </a:r>
            <a:endParaRPr lang="en-US" sz="1600" dirty="0"/>
          </a:p>
        </p:txBody>
      </p:sp>
      <p:sp>
        <p:nvSpPr>
          <p:cNvPr id="6" name="Text 4"/>
          <p:cNvSpPr/>
          <p:nvPr/>
        </p:nvSpPr>
        <p:spPr>
          <a:xfrm>
            <a:off x="1041400" y="2824361"/>
            <a:ext cx="4866132"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D4F"/>
                </a:solidFill>
                <a:latin typeface="IBM Plex Sans" pitchFamily="34" charset="0"/>
                <a:ea typeface="IBM Plex Sans" pitchFamily="34" charset="-122"/>
                <a:cs typeface="IBM Plex Sans" pitchFamily="34" charset="-120"/>
              </a:rPr>
              <a:t>En el CUP (C80.0) no se sabe en qué órgano empezó el tumor: el tratamiento es empírico y ningún equipo de órgano lo recibe.</a:t>
            </a:r>
            <a:endParaRPr lang="en-US" sz="1400" dirty="0"/>
          </a:p>
        </p:txBody>
      </p:sp>
      <p:sp>
        <p:nvSpPr>
          <p:cNvPr id="7" name="Shape 5"/>
          <p:cNvSpPr/>
          <p:nvPr/>
        </p:nvSpPr>
        <p:spPr>
          <a:xfrm>
            <a:off x="6197600" y="2275748"/>
            <a:ext cx="5181600" cy="1523934"/>
          </a:xfrm>
          <a:prstGeom prst="roundRect">
            <a:avLst>
              <a:gd name="adj" fmla="val 6667"/>
            </a:avLst>
          </a:prstGeom>
          <a:solidFill>
            <a:srgbClr val="F2F0F9"/>
          </a:solidFill>
          <a:ln/>
        </p:spPr>
      </p:sp>
      <p:sp>
        <p:nvSpPr>
          <p:cNvPr id="8" name="Text 6"/>
          <p:cNvSpPr/>
          <p:nvPr/>
        </p:nvSpPr>
        <p:spPr>
          <a:xfrm>
            <a:off x="6426200" y="2504348"/>
            <a:ext cx="48661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3AA7"/>
                </a:solidFill>
                <a:latin typeface="IBM Plex Sans" pitchFamily="34" charset="0"/>
                <a:ea typeface="IBM Plex Sans" pitchFamily="34" charset="-122"/>
                <a:cs typeface="IBM Plex Sans" pitchFamily="34" charset="-120"/>
              </a:rPr>
              <a:t>Por qué importa</a:t>
            </a:r>
            <a:endParaRPr lang="en-US" sz="1600" dirty="0"/>
          </a:p>
        </p:txBody>
      </p:sp>
      <p:sp>
        <p:nvSpPr>
          <p:cNvPr id="9" name="Text 7"/>
          <p:cNvSpPr/>
          <p:nvPr/>
        </p:nvSpPr>
        <p:spPr>
          <a:xfrm>
            <a:off x="6426200" y="2824361"/>
            <a:ext cx="4866132"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D4F"/>
                </a:solidFill>
                <a:latin typeface="IBM Plex Sans" pitchFamily="34" charset="0"/>
                <a:ea typeface="IBM Plex Sans" pitchFamily="34" charset="-122"/>
                <a:cs typeface="IBM Plex Sans" pitchFamily="34" charset="-120"/>
              </a:rPr>
              <a:t>Mueren 22 de cada 100 hospitalizados y ocupa unos 8.000 días-cama al año, pero queda repartido entre especialidades y es poco visible.</a:t>
            </a:r>
            <a:endParaRPr lang="en-US" sz="1400" dirty="0"/>
          </a:p>
        </p:txBody>
      </p:sp>
      <p:sp>
        <p:nvSpPr>
          <p:cNvPr id="10" name="Shape 8"/>
          <p:cNvSpPr/>
          <p:nvPr/>
        </p:nvSpPr>
        <p:spPr>
          <a:xfrm>
            <a:off x="812800" y="4002881"/>
            <a:ext cx="5181600" cy="1523934"/>
          </a:xfrm>
          <a:prstGeom prst="roundRect">
            <a:avLst>
              <a:gd name="adj" fmla="val 6667"/>
            </a:avLst>
          </a:prstGeom>
          <a:solidFill>
            <a:srgbClr val="F2F0F9"/>
          </a:solidFill>
          <a:ln/>
        </p:spPr>
      </p:sp>
      <p:sp>
        <p:nvSpPr>
          <p:cNvPr id="11" name="Text 9"/>
          <p:cNvSpPr/>
          <p:nvPr/>
        </p:nvSpPr>
        <p:spPr>
          <a:xfrm>
            <a:off x="1041400" y="4231481"/>
            <a:ext cx="48661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3AA7"/>
                </a:solidFill>
                <a:latin typeface="IBM Plex Sans" pitchFamily="34" charset="0"/>
                <a:ea typeface="IBM Plex Sans" pitchFamily="34" charset="-122"/>
                <a:cs typeface="IBM Plex Sans" pitchFamily="34" charset="-120"/>
              </a:rPr>
              <a:t>Público</a:t>
            </a:r>
            <a:endParaRPr lang="en-US" sz="1600" dirty="0"/>
          </a:p>
        </p:txBody>
      </p:sp>
      <p:sp>
        <p:nvSpPr>
          <p:cNvPr id="12" name="Text 10"/>
          <p:cNvSpPr/>
          <p:nvPr/>
        </p:nvSpPr>
        <p:spPr>
          <a:xfrm>
            <a:off x="1041400" y="4551495"/>
            <a:ext cx="486613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D4F"/>
                </a:solidFill>
                <a:latin typeface="IBM Plex Sans" pitchFamily="34" charset="0"/>
                <a:ea typeface="IBM Plex Sans" pitchFamily="34" charset="-122"/>
                <a:cs typeface="IBM Plex Sans" pitchFamily="34" charset="-120"/>
              </a:rPr>
              <a:t>Equipos de gestión clínica y oncológica de hospitales y Servicios de Salud de la red pública.</a:t>
            </a:r>
            <a:endParaRPr lang="en-US" sz="1400" dirty="0"/>
          </a:p>
        </p:txBody>
      </p:sp>
      <p:sp>
        <p:nvSpPr>
          <p:cNvPr id="13" name="Shape 11"/>
          <p:cNvSpPr/>
          <p:nvPr/>
        </p:nvSpPr>
        <p:spPr>
          <a:xfrm>
            <a:off x="6197600" y="4002881"/>
            <a:ext cx="5181600" cy="1523934"/>
          </a:xfrm>
          <a:prstGeom prst="roundRect">
            <a:avLst>
              <a:gd name="adj" fmla="val 6667"/>
            </a:avLst>
          </a:prstGeom>
          <a:solidFill>
            <a:srgbClr val="F2F0F9"/>
          </a:solidFill>
          <a:ln/>
        </p:spPr>
      </p:sp>
      <p:sp>
        <p:nvSpPr>
          <p:cNvPr id="14" name="Text 12"/>
          <p:cNvSpPr/>
          <p:nvPr/>
        </p:nvSpPr>
        <p:spPr>
          <a:xfrm>
            <a:off x="6426200" y="4231481"/>
            <a:ext cx="48661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3AA7"/>
                </a:solidFill>
                <a:latin typeface="IBM Plex Sans" pitchFamily="34" charset="0"/>
                <a:ea typeface="IBM Plex Sans" pitchFamily="34" charset="-122"/>
                <a:cs typeface="IBM Plex Sans" pitchFamily="34" charset="-120"/>
              </a:rPr>
              <a:t>Objetivo</a:t>
            </a:r>
            <a:endParaRPr lang="en-US" sz="1600" dirty="0"/>
          </a:p>
        </p:txBody>
      </p:sp>
      <p:sp>
        <p:nvSpPr>
          <p:cNvPr id="15" name="Text 13"/>
          <p:cNvSpPr/>
          <p:nvPr/>
        </p:nvSpPr>
        <p:spPr>
          <a:xfrm>
            <a:off x="6426200" y="4551495"/>
            <a:ext cx="4866132"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D4F"/>
                </a:solidFill>
                <a:latin typeface="IBM Plex Sans" pitchFamily="34" charset="0"/>
                <a:ea typeface="IBM Plex Sans" pitchFamily="34" charset="-122"/>
                <a:cs typeface="IBM Plex Sans" pitchFamily="34" charset="-120"/>
              </a:rPr>
              <a:t>Un dashboard que muestre cuánto pesa el CUP, cómo lo atiende la red y si le va peor que a los cánceres metastásicos de primario conocido.</a:t>
            </a:r>
            <a:endParaRPr lang="en-US" sz="1400" dirty="0"/>
          </a:p>
        </p:txBody>
      </p:sp>
      <p:sp>
        <p:nvSpPr>
          <p:cNvPr id="16" name="Text 14"/>
          <p:cNvSpPr/>
          <p:nvPr/>
        </p:nvSpPr>
        <p:spPr>
          <a:xfrm>
            <a:off x="812800" y="6289080"/>
            <a:ext cx="30550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Dashboard CUP Chile · Primer avance</a:t>
            </a:r>
            <a:endParaRPr lang="en-US" sz="1200" dirty="0"/>
          </a:p>
        </p:txBody>
      </p:sp>
      <p:sp>
        <p:nvSpPr>
          <p:cNvPr id="17" name="Text 15"/>
          <p:cNvSpPr/>
          <p:nvPr/>
        </p:nvSpPr>
        <p:spPr>
          <a:xfrm>
            <a:off x="9957277" y="6289080"/>
            <a:ext cx="142192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Max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3AA7"/>
                </a:solidFill>
                <a:latin typeface="IBM Plex Sans" pitchFamily="34" charset="0"/>
                <a:ea typeface="IBM Plex Sans" pitchFamily="34" charset="-122"/>
                <a:cs typeface="IBM Plex Sans" pitchFamily="34" charset="-120"/>
              </a:rPr>
              <a:t>FUENTE Y DESCRIPCIÓN DE LOS DATOS</a:t>
            </a:r>
            <a:endParaRPr lang="en-US" sz="1200" dirty="0"/>
          </a:p>
        </p:txBody>
      </p:sp>
      <p:sp>
        <p:nvSpPr>
          <p:cNvPr id="3" name="Text 1"/>
          <p:cNvSpPr/>
          <p:nvPr>
            <p:ph type="title"/>
          </p:nvPr>
        </p:nvSpPr>
        <p:spPr>
          <a:xfrm>
            <a:off x="812800" y="10261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2E"/>
                </a:solidFill>
                <a:latin typeface="Source Serif 4" pitchFamily="18" charset="0"/>
                <a:ea typeface="Source Serif 4" pitchFamily="18" charset="-122"/>
                <a:cs typeface="Source Serif 4" pitchFamily="18" charset="-120"/>
              </a:rPr>
              <a:t>Egresos GRD de los hospitales públicos, 2019–2025</a:t>
            </a:r>
            <a:endParaRPr lang="en-US" sz="3200" dirty="0"/>
          </a:p>
        </p:txBody>
      </p:sp>
      <p:sp>
        <p:nvSpPr>
          <p:cNvPr id="4" name="Shape 2"/>
          <p:cNvSpPr/>
          <p:nvPr/>
        </p:nvSpPr>
        <p:spPr>
          <a:xfrm>
            <a:off x="831850" y="1777935"/>
            <a:ext cx="0" cy="914334"/>
          </a:xfrm>
          <a:prstGeom prst="line">
            <a:avLst/>
          </a:prstGeom>
          <a:noFill/>
          <a:ln w="38100">
            <a:solidFill>
              <a:srgbClr val="C9C3EF"/>
            </a:solidFill>
            <a:prstDash val="solid"/>
          </a:ln>
        </p:spPr>
      </p:sp>
      <p:sp>
        <p:nvSpPr>
          <p:cNvPr id="5" name="Text 3"/>
          <p:cNvSpPr/>
          <p:nvPr/>
        </p:nvSpPr>
        <p:spPr>
          <a:xfrm>
            <a:off x="1003300" y="1777935"/>
            <a:ext cx="3204845" cy="452107"/>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C1A2E"/>
                </a:solidFill>
                <a:latin typeface="Source Serif 4" pitchFamily="18" charset="0"/>
                <a:ea typeface="Source Serif 4" pitchFamily="18" charset="-122"/>
                <a:cs typeface="Source Serif 4" pitchFamily="18" charset="-120"/>
              </a:rPr>
              <a:t>6,94 M</a:t>
            </a:r>
            <a:endParaRPr lang="en-US" sz="3200" dirty="0"/>
          </a:p>
        </p:txBody>
      </p:sp>
      <p:sp>
        <p:nvSpPr>
          <p:cNvPr id="6" name="Text 4"/>
          <p:cNvSpPr/>
          <p:nvPr/>
        </p:nvSpPr>
        <p:spPr>
          <a:xfrm>
            <a:off x="1003300" y="2230041"/>
            <a:ext cx="3204845"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4B5C"/>
                </a:solidFill>
                <a:latin typeface="IBM Plex Sans" pitchFamily="34" charset="0"/>
                <a:ea typeface="IBM Plex Sans" pitchFamily="34" charset="-122"/>
                <a:cs typeface="IBM Plex Sans" pitchFamily="34" charset="-120"/>
              </a:rPr>
              <a:t>egresos leídos (7 archivos, ~128 columnas)</a:t>
            </a:r>
            <a:endParaRPr lang="en-US" sz="1300" dirty="0"/>
          </a:p>
        </p:txBody>
      </p:sp>
      <p:sp>
        <p:nvSpPr>
          <p:cNvPr id="7" name="Shape 5"/>
          <p:cNvSpPr/>
          <p:nvPr/>
        </p:nvSpPr>
        <p:spPr>
          <a:xfrm>
            <a:off x="831850" y="2870068"/>
            <a:ext cx="0" cy="683220"/>
          </a:xfrm>
          <a:prstGeom prst="line">
            <a:avLst/>
          </a:prstGeom>
          <a:noFill/>
          <a:ln w="38100">
            <a:solidFill>
              <a:srgbClr val="8F84D9"/>
            </a:solidFill>
            <a:prstDash val="solid"/>
          </a:ln>
        </p:spPr>
      </p:sp>
      <p:sp>
        <p:nvSpPr>
          <p:cNvPr id="8" name="Text 6"/>
          <p:cNvSpPr/>
          <p:nvPr/>
        </p:nvSpPr>
        <p:spPr>
          <a:xfrm>
            <a:off x="1003300" y="2870068"/>
            <a:ext cx="3204845" cy="452107"/>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C1A2E"/>
                </a:solidFill>
                <a:latin typeface="Source Serif 4" pitchFamily="18" charset="0"/>
                <a:ea typeface="Source Serif 4" pitchFamily="18" charset="-122"/>
                <a:cs typeface="Source Serif 4" pitchFamily="18" charset="-120"/>
              </a:rPr>
              <a:t>60.816</a:t>
            </a:r>
            <a:endParaRPr lang="en-US" sz="3200" dirty="0"/>
          </a:p>
        </p:txBody>
      </p:sp>
      <p:sp>
        <p:nvSpPr>
          <p:cNvPr id="9" name="Text 7"/>
          <p:cNvSpPr/>
          <p:nvPr/>
        </p:nvSpPr>
        <p:spPr>
          <a:xfrm>
            <a:off x="1003300" y="3322176"/>
            <a:ext cx="320484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4B5C"/>
                </a:solidFill>
                <a:latin typeface="IBM Plex Sans" pitchFamily="34" charset="0"/>
                <a:ea typeface="IBM Plex Sans" pitchFamily="34" charset="-122"/>
                <a:cs typeface="IBM Plex Sans" pitchFamily="34" charset="-120"/>
              </a:rPr>
              <a:t>egresos de adultos en los 6 grupos</a:t>
            </a:r>
            <a:endParaRPr lang="en-US" sz="1300" dirty="0"/>
          </a:p>
        </p:txBody>
      </p:sp>
      <p:sp>
        <p:nvSpPr>
          <p:cNvPr id="10" name="Shape 8"/>
          <p:cNvSpPr/>
          <p:nvPr/>
        </p:nvSpPr>
        <p:spPr>
          <a:xfrm>
            <a:off x="831850" y="3731089"/>
            <a:ext cx="0" cy="683220"/>
          </a:xfrm>
          <a:prstGeom prst="line">
            <a:avLst/>
          </a:prstGeom>
          <a:noFill/>
          <a:ln w="38100">
            <a:solidFill>
              <a:srgbClr val="4A3AA7"/>
            </a:solidFill>
            <a:prstDash val="solid"/>
          </a:ln>
        </p:spPr>
      </p:sp>
      <p:sp>
        <p:nvSpPr>
          <p:cNvPr id="11" name="Text 9"/>
          <p:cNvSpPr/>
          <p:nvPr/>
        </p:nvSpPr>
        <p:spPr>
          <a:xfrm>
            <a:off x="1003300" y="3731089"/>
            <a:ext cx="3204845" cy="452107"/>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4A3AA7"/>
                </a:solidFill>
                <a:latin typeface="Source Serif 4" pitchFamily="18" charset="0"/>
                <a:ea typeface="Source Serif 4" pitchFamily="18" charset="-122"/>
                <a:cs typeface="Source Serif 4" pitchFamily="18" charset="-120"/>
              </a:rPr>
              <a:t>3.889</a:t>
            </a:r>
            <a:endParaRPr lang="en-US" sz="3200" dirty="0"/>
          </a:p>
        </p:txBody>
      </p:sp>
      <p:sp>
        <p:nvSpPr>
          <p:cNvPr id="12" name="Text 10"/>
          <p:cNvSpPr/>
          <p:nvPr/>
        </p:nvSpPr>
        <p:spPr>
          <a:xfrm>
            <a:off x="1003300" y="4183196"/>
            <a:ext cx="320484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4B5C"/>
                </a:solidFill>
                <a:latin typeface="IBM Plex Sans" pitchFamily="34" charset="0"/>
                <a:ea typeface="IBM Plex Sans" pitchFamily="34" charset="-122"/>
                <a:cs typeface="IBM Plex Sans" pitchFamily="34" charset="-120"/>
              </a:rPr>
              <a:t>hospitalizaciones por CUP (C80.0)</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33900" y="1790635"/>
          <a:ext cx="6845300" cy="2661179"/>
        </p:xfrm>
        <a:graphic>
          <a:graphicData uri="http://schemas.openxmlformats.org/drawingml/2006/table">
            <a:tbl>
              <a:tblPr/>
              <a:tblGrid>
                <a:gridCol w="2601214"/>
                <a:gridCol w="1505966"/>
                <a:gridCol w="2738120"/>
              </a:tblGrid>
              <a:tr h="332647">
                <a:tc>
                  <a:txBody>
                    <a:bodyPr/>
                    <a:lstStyle/>
                    <a:p>
                      <a:pPr indent="0" marL="0">
                        <a:lnSpc>
                          <a:spcPts val="1680"/>
                        </a:lnSpc>
                        <a:buNone/>
                      </a:pPr>
                      <a:r>
                        <a:rPr lang="en-US" sz="1200" b="1" dirty="0">
                          <a:solidFill>
                            <a:srgbClr val="1C1A2E"/>
                          </a:solidFill>
                          <a:latin typeface="IBM Plex Sans" pitchFamily="34" charset="0"/>
                          <a:ea typeface="IBM Plex Sans" pitchFamily="34" charset="-122"/>
                          <a:cs typeface="IBM Plex Sans" pitchFamily="34" charset="-120"/>
                        </a:rPr>
                        <a:t>Variables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c>
                  <a:txBody>
                    <a:bodyPr/>
                    <a:lstStyle/>
                    <a:p>
                      <a:pPr indent="0" marL="0">
                        <a:lnSpc>
                          <a:spcPts val="1680"/>
                        </a:lnSpc>
                        <a:buNone/>
                      </a:pPr>
                      <a:r>
                        <a:rPr lang="en-US" sz="1200" b="1" dirty="0">
                          <a:solidFill>
                            <a:srgbClr val="1C1A2E"/>
                          </a:solidFill>
                          <a:latin typeface="IBM Plex Sans" pitchFamily="34" charset="0"/>
                          <a:ea typeface="IBM Plex Sans" pitchFamily="34" charset="-122"/>
                          <a:cs typeface="IBM Plex Sans" pitchFamily="34" charset="-120"/>
                        </a:rPr>
                        <a:t>Tipo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9"/>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c>
                  <a:txBody>
                    <a:bodyPr/>
                    <a:lstStyle/>
                    <a:p>
                      <a:pPr indent="0" marL="0">
                        <a:lnSpc>
                          <a:spcPts val="1680"/>
                        </a:lnSpc>
                        <a:buNone/>
                      </a:pPr>
                      <a:r>
                        <a:rPr lang="en-US" sz="1200" b="1" dirty="0">
                          <a:solidFill>
                            <a:srgbClr val="1C1A2E"/>
                          </a:solidFill>
                          <a:latin typeface="IBM Plex Sans" pitchFamily="34" charset="0"/>
                          <a:ea typeface="IBM Plex Sans" pitchFamily="34" charset="-122"/>
                          <a:cs typeface="IBM Plex Sans" pitchFamily="34" charset="-120"/>
                        </a:rPr>
                        <a:t>Para qué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9"/>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35 diagnósticos CIE-10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categórica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grupos y metástasis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Edad, sexo, previsión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numérica / cat.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perfil del paciente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Procedencia, tipo de 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categórica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cómo llega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Especialidad, condición al alta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categórica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quién atiende, cómo sale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Fechas de ingreso y alta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fecha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estancia, tendencia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Severidad y peso GRD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ordinal / num.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gravedad y recursos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Servicio de Salud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categórica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territorio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4" name="Text 11"/>
          <p:cNvSpPr/>
          <p:nvPr/>
        </p:nvSpPr>
        <p:spPr>
          <a:xfrm>
            <a:off x="4521200" y="4578814"/>
            <a:ext cx="7063740"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D4B5C"/>
                </a:solidFill>
                <a:latin typeface="IBM Plex Sans" pitchFamily="34" charset="0"/>
                <a:ea typeface="IBM Plex Sans" pitchFamily="34" charset="-122"/>
                <a:cs typeface="IBM Plex Sans" pitchFamily="34" charset="-120"/>
              </a:rPr>
              <a:t>Limpieza:</a:t>
            </a:r>
            <a:r>
              <a:rPr lang="en-US" sz="1200" dirty="0">
                <a:solidFill>
                  <a:srgbClr val="4D4B5C"/>
                </a:solidFill>
                <a:latin typeface="IBM Plex Sans" pitchFamily="34" charset="0"/>
                <a:ea typeface="IBM Plex Sans" pitchFamily="34" charset="-122"/>
                <a:cs typeface="IBM Plex Sans" pitchFamily="34" charset="-120"/>
              </a:rPr>
              <a:t> menos de 0,02 % de faltantes; las estadías muy largas se mantienen y por eso usamos medianas. </a:t>
            </a:r>
            <a:r>
              <a:rPr lang="en-US" sz="1200" b="1" dirty="0">
                <a:solidFill>
                  <a:srgbClr val="4D4B5C"/>
                </a:solidFill>
                <a:latin typeface="IBM Plex Sans" pitchFamily="34" charset="0"/>
                <a:ea typeface="IBM Plex Sans" pitchFamily="34" charset="-122"/>
                <a:cs typeface="IBM Plex Sans" pitchFamily="34" charset="-120"/>
              </a:rPr>
              <a:t>Limitaciones:</a:t>
            </a:r>
            <a:r>
              <a:rPr lang="en-US" sz="1200" dirty="0">
                <a:solidFill>
                  <a:srgbClr val="4D4B5C"/>
                </a:solidFill>
                <a:latin typeface="IBM Plex Sans" pitchFamily="34" charset="0"/>
                <a:ea typeface="IBM Plex Sans" pitchFamily="34" charset="-122"/>
                <a:cs typeface="IBM Plex Sans" pitchFamily="34" charset="-120"/>
              </a:rPr>
              <a:t> solo hospitales públicos y solo muertes dentro del hospital.</a:t>
            </a:r>
            <a:endParaRPr lang="en-US" sz="1200" dirty="0"/>
          </a:p>
        </p:txBody>
      </p:sp>
      <p:sp>
        <p:nvSpPr>
          <p:cNvPr id="15" name="Text 12"/>
          <p:cNvSpPr/>
          <p:nvPr/>
        </p:nvSpPr>
        <p:spPr>
          <a:xfrm>
            <a:off x="812800" y="6289080"/>
            <a:ext cx="30550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Dashboard CUP Chile · Primer avance</a:t>
            </a:r>
            <a:endParaRPr lang="en-US" sz="1200" dirty="0"/>
          </a:p>
        </p:txBody>
      </p:sp>
      <p:sp>
        <p:nvSpPr>
          <p:cNvPr id="16" name="Text 13"/>
          <p:cNvSpPr/>
          <p:nvPr/>
        </p:nvSpPr>
        <p:spPr>
          <a:xfrm>
            <a:off x="9679861" y="6289080"/>
            <a:ext cx="169933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Bastián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3AA7"/>
                </a:solidFill>
                <a:latin typeface="IBM Plex Sans" pitchFamily="34" charset="0"/>
                <a:ea typeface="IBM Plex Sans" pitchFamily="34" charset="-122"/>
                <a:cs typeface="IBM Plex Sans" pitchFamily="34" charset="-120"/>
              </a:rPr>
              <a:t>GRUPOS DE ESTUDIO</a:t>
            </a:r>
            <a:endParaRPr lang="en-US" sz="1200" dirty="0"/>
          </a:p>
        </p:txBody>
      </p:sp>
      <p:sp>
        <p:nvSpPr>
          <p:cNvPr id="3" name="Text 1"/>
          <p:cNvSpPr/>
          <p:nvPr>
            <p:ph type="title"/>
          </p:nvPr>
        </p:nvSpPr>
        <p:spPr>
          <a:xfrm>
            <a:off x="812800" y="102612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2E"/>
                </a:solidFill>
                <a:latin typeface="Source Serif 4" pitchFamily="18" charset="0"/>
                <a:ea typeface="Source Serif 4" pitchFamily="18" charset="-122"/>
                <a:cs typeface="Source Serif 4" pitchFamily="18" charset="-120"/>
              </a:rPr>
              <a:t>Cómo identificamos el CUP y con quién lo comparamos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37648"/>
          <a:ext cx="5448300" cy="2874433"/>
        </p:xfrm>
        <a:graphic>
          <a:graphicData uri="http://schemas.openxmlformats.org/drawingml/2006/table">
            <a:tbl>
              <a:tblPr/>
              <a:tblGrid>
                <a:gridCol w="2833116"/>
                <a:gridCol w="1307592"/>
                <a:gridCol w="1307592"/>
              </a:tblGrid>
              <a:tr h="359304">
                <a:tc>
                  <a:txBody>
                    <a:bodyPr/>
                    <a:lstStyle/>
                    <a:p>
                      <a:pPr indent="0" marL="0">
                        <a:lnSpc>
                          <a:spcPts val="1820"/>
                        </a:lnSpc>
                        <a:buNone/>
                      </a:pPr>
                      <a:r>
                        <a:rPr lang="en-US" sz="1300" b="1" dirty="0">
                          <a:solidFill>
                            <a:srgbClr val="1C1A2E"/>
                          </a:solidFill>
                          <a:latin typeface="IBM Plex Sans" pitchFamily="34" charset="0"/>
                          <a:ea typeface="IBM Plex Sans" pitchFamily="34" charset="-122"/>
                          <a:cs typeface="IBM Plex Sans" pitchFamily="34" charset="-120"/>
                        </a:rPr>
                        <a:t>Grupo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c>
                  <a:txBody>
                    <a:bodyPr/>
                    <a:lstStyle/>
                    <a:p>
                      <a:pPr indent="0" marL="0">
                        <a:lnSpc>
                          <a:spcPts val="1820"/>
                        </a:lnSpc>
                        <a:buNone/>
                      </a:pPr>
                      <a:r>
                        <a:rPr lang="en-US" sz="1300" b="1" dirty="0">
                          <a:solidFill>
                            <a:srgbClr val="1C1A2E"/>
                          </a:solidFill>
                          <a:latin typeface="IBM Plex Sans" pitchFamily="34" charset="0"/>
                          <a:ea typeface="IBM Plex Sans" pitchFamily="34" charset="-122"/>
                          <a:cs typeface="IBM Plex Sans" pitchFamily="34" charset="-120"/>
                        </a:rPr>
                        <a:t>CIE-10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9"/>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c>
                  <a:txBody>
                    <a:bodyPr/>
                    <a:lstStyle/>
                    <a:p>
                      <a:pPr algn="r" indent="0" marL="0">
                        <a:lnSpc>
                          <a:spcPts val="1820"/>
                        </a:lnSpc>
                        <a:buNone/>
                      </a:pPr>
                      <a:r>
                        <a:rPr lang="en-US" sz="1300" b="1" dirty="0">
                          <a:solidFill>
                            <a:srgbClr val="1C1A2E"/>
                          </a:solidFill>
                          <a:latin typeface="IBM Plex Sans" pitchFamily="34" charset="0"/>
                          <a:ea typeface="IBM Plex Sans" pitchFamily="34" charset="-122"/>
                          <a:cs typeface="IBM Plex Sans" pitchFamily="34" charset="-120"/>
                        </a:rPr>
                        <a:t>Egresos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9"/>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r>
              <a:tr h="359304">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CUP (primario desconocido)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C80.0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algn="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3.889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r>
              <a:tr h="359304">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Pulmón metastásico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8.706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Colorrectal metastásico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C18–C20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20.581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Mama metastásico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12.520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Próstata metastásico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C61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6.684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Gástrico metastásico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8.436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CUP potencial (sensibilidad)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C80.9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1C1A2E"/>
                          </a:solidFill>
                          <a:latin typeface="IBM Plex Sans" pitchFamily="34" charset="0"/>
                          <a:ea typeface="IBM Plex Sans" pitchFamily="34" charset="-122"/>
                          <a:cs typeface="IBM Plex Sans" pitchFamily="34" charset="-120"/>
                        </a:rPr>
                        <a:t>1.042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5" name="Shape 2"/>
          <p:cNvSpPr/>
          <p:nvPr/>
        </p:nvSpPr>
        <p:spPr>
          <a:xfrm>
            <a:off x="6699250" y="2224948"/>
            <a:ext cx="0" cy="507934"/>
          </a:xfrm>
          <a:prstGeom prst="line">
            <a:avLst/>
          </a:prstGeom>
          <a:noFill/>
          <a:ln w="38100">
            <a:solidFill>
              <a:srgbClr val="4A3AA7"/>
            </a:solidFill>
            <a:prstDash val="solid"/>
          </a:ln>
        </p:spPr>
      </p:sp>
      <p:sp>
        <p:nvSpPr>
          <p:cNvPr id="6" name="Text 3"/>
          <p:cNvSpPr/>
          <p:nvPr/>
        </p:nvSpPr>
        <p:spPr>
          <a:xfrm>
            <a:off x="6870700" y="2250348"/>
            <a:ext cx="464375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A2E"/>
                </a:solidFill>
                <a:latin typeface="IBM Plex Sans" pitchFamily="34" charset="0"/>
                <a:ea typeface="IBM Plex Sans" pitchFamily="34" charset="-122"/>
                <a:cs typeface="IBM Plex Sans" pitchFamily="34" charset="-120"/>
              </a:rPr>
              <a:t>Análisis principal: solo C80.0</a:t>
            </a:r>
            <a:endParaRPr lang="en-US" sz="1400" dirty="0"/>
          </a:p>
        </p:txBody>
      </p:sp>
      <p:sp>
        <p:nvSpPr>
          <p:cNvPr id="7" name="Text 4"/>
          <p:cNvSpPr/>
          <p:nvPr/>
        </p:nvSpPr>
        <p:spPr>
          <a:xfrm>
            <a:off x="6870700" y="2501768"/>
            <a:ext cx="464375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4B5C"/>
                </a:solidFill>
                <a:latin typeface="IBM Plex Sans" pitchFamily="34" charset="0"/>
                <a:ea typeface="IBM Plex Sans" pitchFamily="34" charset="-122"/>
                <a:cs typeface="IBM Plex Sans" pitchFamily="34" charset="-120"/>
              </a:rPr>
              <a:t>El C80.9 es otra categoría; va aparte, como sensibilidad.</a:t>
            </a:r>
            <a:endParaRPr lang="en-US" sz="1200" dirty="0"/>
          </a:p>
        </p:txBody>
      </p:sp>
      <p:sp>
        <p:nvSpPr>
          <p:cNvPr id="8" name="Shape 5"/>
          <p:cNvSpPr/>
          <p:nvPr/>
        </p:nvSpPr>
        <p:spPr>
          <a:xfrm>
            <a:off x="6699250" y="2859881"/>
            <a:ext cx="0" cy="507934"/>
          </a:xfrm>
          <a:prstGeom prst="line">
            <a:avLst/>
          </a:prstGeom>
          <a:noFill/>
          <a:ln w="38100">
            <a:solidFill>
              <a:srgbClr val="8F84D9"/>
            </a:solidFill>
            <a:prstDash val="solid"/>
          </a:ln>
        </p:spPr>
      </p:sp>
      <p:sp>
        <p:nvSpPr>
          <p:cNvPr id="9" name="Text 6"/>
          <p:cNvSpPr/>
          <p:nvPr/>
        </p:nvSpPr>
        <p:spPr>
          <a:xfrm>
            <a:off x="6870700" y="2885281"/>
            <a:ext cx="464375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A2E"/>
                </a:solidFill>
                <a:latin typeface="IBM Plex Sans" pitchFamily="34" charset="0"/>
                <a:ea typeface="IBM Plex Sans" pitchFamily="34" charset="-122"/>
                <a:cs typeface="IBM Plex Sans" pitchFamily="34" charset="-120"/>
              </a:rPr>
              <a:t>Metastásico = primario + C77–C79</a:t>
            </a:r>
            <a:endParaRPr lang="en-US" sz="1400" dirty="0"/>
          </a:p>
        </p:txBody>
      </p:sp>
      <p:sp>
        <p:nvSpPr>
          <p:cNvPr id="10" name="Text 7"/>
          <p:cNvSpPr/>
          <p:nvPr/>
        </p:nvSpPr>
        <p:spPr>
          <a:xfrm>
            <a:off x="6870700" y="3136702"/>
            <a:ext cx="464375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4B5C"/>
                </a:solidFill>
                <a:latin typeface="IBM Plex Sans" pitchFamily="34" charset="0"/>
                <a:ea typeface="IBM Plex Sans" pitchFamily="34" charset="-122"/>
                <a:cs typeface="IBM Plex Sans" pitchFamily="34" charset="-120"/>
              </a:rPr>
              <a:t>Buscado en los 35 diagnósticos de cada egreso.</a:t>
            </a:r>
            <a:endParaRPr lang="en-US" sz="1200" dirty="0"/>
          </a:p>
        </p:txBody>
      </p:sp>
      <p:sp>
        <p:nvSpPr>
          <p:cNvPr id="11" name="Shape 8"/>
          <p:cNvSpPr/>
          <p:nvPr/>
        </p:nvSpPr>
        <p:spPr>
          <a:xfrm>
            <a:off x="6699250" y="3494816"/>
            <a:ext cx="0" cy="713647"/>
          </a:xfrm>
          <a:prstGeom prst="line">
            <a:avLst/>
          </a:prstGeom>
          <a:noFill/>
          <a:ln w="38100">
            <a:solidFill>
              <a:srgbClr val="C9C3EF"/>
            </a:solidFill>
            <a:prstDash val="solid"/>
          </a:ln>
        </p:spPr>
      </p:sp>
      <p:sp>
        <p:nvSpPr>
          <p:cNvPr id="12" name="Text 9"/>
          <p:cNvSpPr/>
          <p:nvPr/>
        </p:nvSpPr>
        <p:spPr>
          <a:xfrm>
            <a:off x="6870700" y="3520216"/>
            <a:ext cx="464375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A2E"/>
                </a:solidFill>
                <a:latin typeface="IBM Plex Sans" pitchFamily="34" charset="0"/>
                <a:ea typeface="IBM Plex Sans" pitchFamily="34" charset="-122"/>
                <a:cs typeface="IBM Plex Sans" pitchFamily="34" charset="-120"/>
              </a:rPr>
              <a:t>Excluidos: 1.088 egresos</a:t>
            </a:r>
            <a:endParaRPr lang="en-US" sz="1400" dirty="0"/>
          </a:p>
        </p:txBody>
      </p:sp>
      <p:sp>
        <p:nvSpPr>
          <p:cNvPr id="13" name="Text 10"/>
          <p:cNvSpPr/>
          <p:nvPr/>
        </p:nvSpPr>
        <p:spPr>
          <a:xfrm>
            <a:off x="6870700" y="3771636"/>
            <a:ext cx="464375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4B5C"/>
                </a:solidFill>
                <a:latin typeface="IBM Plex Sans" pitchFamily="34" charset="0"/>
                <a:ea typeface="IBM Plex Sans" pitchFamily="34" charset="-122"/>
                <a:cs typeface="IBM Plex Sans" pitchFamily="34" charset="-120"/>
              </a:rPr>
              <a:t>Menores de 18 años, más de un primario o C80 junto a un primario conocido.</a:t>
            </a:r>
            <a:endParaRPr lang="en-US" sz="1200" dirty="0"/>
          </a:p>
        </p:txBody>
      </p:sp>
      <p:sp>
        <p:nvSpPr>
          <p:cNvPr id="14" name="Text 11"/>
          <p:cNvSpPr/>
          <p:nvPr/>
        </p:nvSpPr>
        <p:spPr>
          <a:xfrm>
            <a:off x="812800" y="6289080"/>
            <a:ext cx="30550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Dashboard CUP Chile · Primer avance</a:t>
            </a:r>
            <a:endParaRPr lang="en-US" sz="1200" dirty="0"/>
          </a:p>
        </p:txBody>
      </p:sp>
      <p:sp>
        <p:nvSpPr>
          <p:cNvPr id="15" name="Text 12"/>
          <p:cNvSpPr/>
          <p:nvPr/>
        </p:nvSpPr>
        <p:spPr>
          <a:xfrm>
            <a:off x="9679861" y="6289080"/>
            <a:ext cx="169933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Bastián · 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pic>
        <p:nvPicPr>
          <p:cNvPr id="2" name="Image 0" descr="Cifras clave del CUP, hospitalizaciones por año 2019–2025 y mortalidad anual por grupo">    </p:cNvPr>
          <p:cNvPicPr>
            <a:picLocks noChangeAspect="1"/>
          </p:cNvPicPr>
          <p:nvPr/>
        </p:nvPicPr>
        <p:blipFill>
          <a:blip r:embed="rId1"/>
          <a:srcRect l="-13880" r="-13880" t="0" b="0"/>
          <a:stretch/>
        </p:blipFill>
        <p:spPr>
          <a:xfrm>
            <a:off x="406400" y="254000"/>
            <a:ext cx="11379200" cy="5207000"/>
          </a:xfrm>
          <a:prstGeom prst="rect">
            <a:avLst/>
          </a:prstGeom>
        </p:spPr>
      </p:pic>
      <p:sp>
        <p:nvSpPr>
          <p:cNvPr id="3" name="Shape 0"/>
          <p:cNvSpPr/>
          <p:nvPr/>
        </p:nvSpPr>
        <p:spPr>
          <a:xfrm>
            <a:off x="425450" y="5588000"/>
            <a:ext cx="0" cy="290777"/>
          </a:xfrm>
          <a:prstGeom prst="line">
            <a:avLst/>
          </a:prstGeom>
          <a:noFill/>
          <a:ln w="38100">
            <a:solidFill>
              <a:srgbClr val="4A3AA7"/>
            </a:solidFill>
            <a:prstDash val="solid"/>
          </a:ln>
        </p:spPr>
      </p:sp>
      <p:sp>
        <p:nvSpPr>
          <p:cNvPr id="4" name="Text 1"/>
          <p:cNvSpPr/>
          <p:nvPr/>
        </p:nvSpPr>
        <p:spPr>
          <a:xfrm>
            <a:off x="571500" y="5613400"/>
            <a:ext cx="11550523" cy="265377"/>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C1A2E"/>
                </a:solidFill>
                <a:latin typeface="IBM Plex Sans" pitchFamily="34" charset="0"/>
                <a:ea typeface="IBM Plex Sans" pitchFamily="34" charset="-122"/>
                <a:cs typeface="IBM Plex Sans" pitchFamily="34" charset="-120"/>
              </a:rPr>
              <a:t>Lectura:</a:t>
            </a:r>
            <a:r>
              <a:rPr lang="en-US" sz="1400" dirty="0">
                <a:solidFill>
                  <a:srgbClr val="1C1A2E"/>
                </a:solidFill>
                <a:latin typeface="IBM Plex Sans" pitchFamily="34" charset="0"/>
                <a:ea typeface="IBM Plex Sans" pitchFamily="34" charset="-122"/>
                <a:cs typeface="IBM Plex Sans" pitchFamily="34" charset="-120"/>
              </a:rPr>
              <a:t> el CUP ocupa el equivalente a 22 camas todo el año y su mortalidad no ha bajado en siete años.</a:t>
            </a:r>
            <a:endParaRPr lang="en-US" sz="1400" dirty="0"/>
          </a:p>
        </p:txBody>
      </p:sp>
      <p:sp>
        <p:nvSpPr>
          <p:cNvPr id="5" name="Text 2"/>
          <p:cNvSpPr/>
          <p:nvPr/>
        </p:nvSpPr>
        <p:spPr>
          <a:xfrm>
            <a:off x="406400" y="6339880"/>
            <a:ext cx="3701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¿Cuánto pesa el CUP?</a:t>
            </a:r>
            <a:endParaRPr lang="en-US" sz="1200" dirty="0"/>
          </a:p>
        </p:txBody>
      </p:sp>
      <p:sp>
        <p:nvSpPr>
          <p:cNvPr id="6" name="Text 3"/>
          <p:cNvSpPr/>
          <p:nvPr/>
        </p:nvSpPr>
        <p:spPr>
          <a:xfrm>
            <a:off x="10086261" y="6339880"/>
            <a:ext cx="169933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Bastián · 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pic>
        <p:nvPicPr>
          <p:cNvPr id="2" name="Image 0" descr="Matrices de 100 cuadrados: muertes de cada 100 hospitalizaciones por grupo; CUP 22, pulmón 22, próstata 14, gástrico 12, mama 9, colorrectal 8">    </p:cNvPr>
          <p:cNvPicPr>
            <a:picLocks noChangeAspect="1"/>
          </p:cNvPicPr>
          <p:nvPr/>
        </p:nvPicPr>
        <p:blipFill>
          <a:blip r:embed="rId1"/>
          <a:srcRect l="0" r="0" t="-13082" b="-13082"/>
          <a:stretch/>
        </p:blipFill>
        <p:spPr>
          <a:xfrm>
            <a:off x="406400" y="254000"/>
            <a:ext cx="11379200" cy="5080000"/>
          </a:xfrm>
          <a:prstGeom prst="rect">
            <a:avLst/>
          </a:prstGeom>
        </p:spPr>
      </p:pic>
      <p:sp>
        <p:nvSpPr>
          <p:cNvPr id="3" name="Shape 0"/>
          <p:cNvSpPr/>
          <p:nvPr/>
        </p:nvSpPr>
        <p:spPr>
          <a:xfrm>
            <a:off x="425450" y="5461000"/>
            <a:ext cx="0" cy="290777"/>
          </a:xfrm>
          <a:prstGeom prst="line">
            <a:avLst/>
          </a:prstGeom>
          <a:noFill/>
          <a:ln w="38100">
            <a:solidFill>
              <a:srgbClr val="EB6834"/>
            </a:solidFill>
            <a:prstDash val="solid"/>
          </a:ln>
        </p:spPr>
      </p:sp>
      <p:sp>
        <p:nvSpPr>
          <p:cNvPr id="4" name="Text 1"/>
          <p:cNvSpPr/>
          <p:nvPr/>
        </p:nvSpPr>
        <p:spPr>
          <a:xfrm>
            <a:off x="571500" y="5486400"/>
            <a:ext cx="11550523" cy="265377"/>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C1A2E"/>
                </a:solidFill>
                <a:latin typeface="IBM Plex Sans" pitchFamily="34" charset="0"/>
                <a:ea typeface="IBM Plex Sans" pitchFamily="34" charset="-122"/>
                <a:cs typeface="IBM Plex Sans" pitchFamily="34" charset="-120"/>
              </a:rPr>
              <a:t>Lectura:</a:t>
            </a:r>
            <a:r>
              <a:rPr lang="en-US" sz="1400" dirty="0">
                <a:solidFill>
                  <a:srgbClr val="1C1A2E"/>
                </a:solidFill>
                <a:latin typeface="IBM Plex Sans" pitchFamily="34" charset="0"/>
                <a:ea typeface="IBM Plex Sans" pitchFamily="34" charset="-122"/>
                <a:cs typeface="IBM Plex Sans" pitchFamily="34" charset="-120"/>
              </a:rPr>
              <a:t> el CUP muere tanto como pulmón, el de peor pronóstico, y más que los otros cuatro (p &lt; 0,001).</a:t>
            </a:r>
            <a:endParaRPr lang="en-US" sz="1400" dirty="0"/>
          </a:p>
        </p:txBody>
      </p:sp>
      <p:sp>
        <p:nvSpPr>
          <p:cNvPr id="5" name="Text 2"/>
          <p:cNvSpPr/>
          <p:nvPr/>
        </p:nvSpPr>
        <p:spPr>
          <a:xfrm>
            <a:off x="406400" y="6339880"/>
            <a:ext cx="20503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¿El CUP muere más?</a:t>
            </a:r>
            <a:endParaRPr lang="en-US" sz="1200" dirty="0"/>
          </a:p>
        </p:txBody>
      </p:sp>
      <p:sp>
        <p:nvSpPr>
          <p:cNvPr id="6" name="Text 3"/>
          <p:cNvSpPr/>
          <p:nvPr/>
        </p:nvSpPr>
        <p:spPr>
          <a:xfrm>
            <a:off x="9974342" y="6339880"/>
            <a:ext cx="181125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Agustín · 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pic>
        <p:nvPicPr>
          <p:cNvPr id="2" name="Image 0" descr="Mortalidad ajustada por edad, sexo, gravedad y tipo de ingreso: pulmón 16, CUP 15, mama 13, gástrico 12, próstata 10 y colorrectal 10 de cada 100">    </p:cNvPr>
          <p:cNvPicPr>
            <a:picLocks noChangeAspect="1"/>
          </p:cNvPicPr>
          <p:nvPr/>
        </p:nvPicPr>
        <p:blipFill>
          <a:blip r:embed="rId1"/>
          <a:srcRect l="0" r="0" t="-5804" b="-5804"/>
          <a:stretch/>
        </p:blipFill>
        <p:spPr>
          <a:xfrm>
            <a:off x="406400" y="254000"/>
            <a:ext cx="11379200" cy="5080000"/>
          </a:xfrm>
          <a:prstGeom prst="rect">
            <a:avLst/>
          </a:prstGeom>
        </p:spPr>
      </p:pic>
      <p:sp>
        <p:nvSpPr>
          <p:cNvPr id="3" name="Shape 0"/>
          <p:cNvSpPr/>
          <p:nvPr/>
        </p:nvSpPr>
        <p:spPr>
          <a:xfrm>
            <a:off x="425450" y="5461000"/>
            <a:ext cx="0" cy="290777"/>
          </a:xfrm>
          <a:prstGeom prst="line">
            <a:avLst/>
          </a:prstGeom>
          <a:noFill/>
          <a:ln w="38100">
            <a:solidFill>
              <a:srgbClr val="4A3AA7"/>
            </a:solidFill>
            <a:prstDash val="solid"/>
          </a:ln>
        </p:spPr>
      </p:sp>
      <p:sp>
        <p:nvSpPr>
          <p:cNvPr id="4" name="Text 1"/>
          <p:cNvSpPr/>
          <p:nvPr/>
        </p:nvSpPr>
        <p:spPr>
          <a:xfrm>
            <a:off x="571500" y="5486400"/>
            <a:ext cx="11550523" cy="265377"/>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C1A2E"/>
                </a:solidFill>
                <a:latin typeface="IBM Plex Sans" pitchFamily="34" charset="0"/>
                <a:ea typeface="IBM Plex Sans" pitchFamily="34" charset="-122"/>
                <a:cs typeface="IBM Plex Sans" pitchFamily="34" charset="-120"/>
              </a:rPr>
              <a:t>Lectura:</a:t>
            </a:r>
            <a:r>
              <a:rPr lang="en-US" sz="1400" dirty="0">
                <a:solidFill>
                  <a:srgbClr val="1C1A2E"/>
                </a:solidFill>
                <a:latin typeface="IBM Plex Sans" pitchFamily="34" charset="0"/>
                <a:ea typeface="IBM Plex Sans" pitchFamily="34" charset="-122"/>
                <a:cs typeface="IBM Plex Sans" pitchFamily="34" charset="-120"/>
              </a:rPr>
              <a:t> con el mismo perfil de pacientes, el CUP muere 1,5 veces más que colorrectal y próstata. Llegar más grave no lo explica todo.</a:t>
            </a:r>
            <a:endParaRPr lang="en-US" sz="1400" dirty="0"/>
          </a:p>
        </p:txBody>
      </p:sp>
      <p:sp>
        <p:nvSpPr>
          <p:cNvPr id="5" name="Text 2"/>
          <p:cNvSpPr/>
          <p:nvPr/>
        </p:nvSpPr>
        <p:spPr>
          <a:xfrm>
            <a:off x="406400" y="6339880"/>
            <a:ext cx="4278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¿Es solo porque llega más grave?</a:t>
            </a:r>
            <a:endParaRPr lang="en-US" sz="1200" dirty="0"/>
          </a:p>
        </p:txBody>
      </p:sp>
      <p:sp>
        <p:nvSpPr>
          <p:cNvPr id="6" name="Text 3"/>
          <p:cNvSpPr/>
          <p:nvPr/>
        </p:nvSpPr>
        <p:spPr>
          <a:xfrm>
            <a:off x="9974342" y="6339880"/>
            <a:ext cx="181125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Agustín · 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pic>
        <p:nvPicPr>
          <p:cNvPr id="2" name="Image 0" descr="Tres mapas de Chile por región: mortalidad del CUP, CUP de cada 100 cánceres metastásicos y alta por oncología, con tabla de cifras por región">    </p:cNvPr>
          <p:cNvPicPr>
            <a:picLocks noChangeAspect="1"/>
          </p:cNvPicPr>
          <p:nvPr/>
        </p:nvPicPr>
        <p:blipFill>
          <a:blip r:embed="rId1"/>
          <a:srcRect l="-17242" r="-17242" t="0" b="0"/>
          <a:stretch/>
        </p:blipFill>
        <p:spPr>
          <a:xfrm>
            <a:off x="406400" y="254000"/>
            <a:ext cx="11379200" cy="5207000"/>
          </a:xfrm>
          <a:prstGeom prst="rect">
            <a:avLst/>
          </a:prstGeom>
        </p:spPr>
      </p:pic>
      <p:sp>
        <p:nvSpPr>
          <p:cNvPr id="3" name="Shape 0"/>
          <p:cNvSpPr/>
          <p:nvPr/>
        </p:nvSpPr>
        <p:spPr>
          <a:xfrm>
            <a:off x="425450" y="5588000"/>
            <a:ext cx="0" cy="290777"/>
          </a:xfrm>
          <a:prstGeom prst="line">
            <a:avLst/>
          </a:prstGeom>
          <a:noFill/>
          <a:ln w="38100">
            <a:solidFill>
              <a:srgbClr val="4A3AA7"/>
            </a:solidFill>
            <a:prstDash val="solid"/>
          </a:ln>
        </p:spPr>
      </p:sp>
      <p:sp>
        <p:nvSpPr>
          <p:cNvPr id="4" name="Text 1"/>
          <p:cNvSpPr/>
          <p:nvPr/>
        </p:nvSpPr>
        <p:spPr>
          <a:xfrm>
            <a:off x="571500" y="5613400"/>
            <a:ext cx="11550523" cy="265377"/>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C1A2E"/>
                </a:solidFill>
                <a:latin typeface="IBM Plex Sans" pitchFamily="34" charset="0"/>
                <a:ea typeface="IBM Plex Sans" pitchFamily="34" charset="-122"/>
                <a:cs typeface="IBM Plex Sans" pitchFamily="34" charset="-120"/>
              </a:rPr>
              <a:t>Lectura:</a:t>
            </a:r>
            <a:r>
              <a:rPr lang="en-US" sz="1400" dirty="0">
                <a:solidFill>
                  <a:srgbClr val="1C1A2E"/>
                </a:solidFill>
                <a:latin typeface="IBM Plex Sans" pitchFamily="34" charset="0"/>
                <a:ea typeface="IBM Plex Sans" pitchFamily="34" charset="-122"/>
                <a:cs typeface="IBM Plex Sans" pitchFamily="34" charset="-120"/>
              </a:rPr>
              <a:t> la llegada del CUP a oncología depende de cómo se organiza cada red; en el extremo sur el CUP pesa el doble que en el país.</a:t>
            </a:r>
            <a:endParaRPr lang="en-US" sz="1400" dirty="0"/>
          </a:p>
        </p:txBody>
      </p:sp>
      <p:sp>
        <p:nvSpPr>
          <p:cNvPr id="5" name="Text 2"/>
          <p:cNvSpPr/>
          <p:nvPr/>
        </p:nvSpPr>
        <p:spPr>
          <a:xfrm>
            <a:off x="406400" y="6339880"/>
            <a:ext cx="4008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¿Cambia según la región?</a:t>
            </a:r>
            <a:endParaRPr lang="en-US" sz="1200" dirty="0"/>
          </a:p>
        </p:txBody>
      </p:sp>
      <p:sp>
        <p:nvSpPr>
          <p:cNvPr id="6" name="Text 3"/>
          <p:cNvSpPr/>
          <p:nvPr/>
        </p:nvSpPr>
        <p:spPr>
          <a:xfrm>
            <a:off x="10253980" y="6339880"/>
            <a:ext cx="15316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Agustín · 9</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0F9"/>
        </a:solidFill>
      </p:bgPr>
    </p:bg>
    <p:spTree>
      <p:nvGrpSpPr>
        <p:cNvPr id="1" name=""/>
        <p:cNvGrpSpPr/>
        <p:nvPr/>
      </p:nvGrpSpPr>
      <p:grpSpPr>
        <a:xfrm>
          <a:off x="0" y="0"/>
          <a:ext cx="0" cy="0"/>
          <a:chOff x="0" y="0"/>
          <a:chExt cx="0" cy="0"/>
        </a:xfrm>
      </p:grpSpPr>
      <p:sp>
        <p:nvSpPr>
          <p:cNvPr id="2" name="Text 0"/>
          <p:cNvSpPr/>
          <p:nvPr/>
        </p:nvSpPr>
        <p:spPr>
          <a:xfrm>
            <a:off x="812800" y="609600"/>
            <a:ext cx="10883392" cy="225491"/>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4A3AA7"/>
                </a:solidFill>
                <a:latin typeface="IBM Plex Sans" pitchFamily="34" charset="0"/>
                <a:ea typeface="IBM Plex Sans" pitchFamily="34" charset="-122"/>
                <a:cs typeface="IBM Plex Sans" pitchFamily="34" charset="-120"/>
              </a:rPr>
              <a:t>PROPUESTA DE DASHBOARD</a:t>
            </a:r>
            <a:endParaRPr lang="en-US" sz="1159" dirty="0"/>
          </a:p>
        </p:txBody>
      </p:sp>
      <p:sp>
        <p:nvSpPr>
          <p:cNvPr id="3" name="Text 1"/>
          <p:cNvSpPr/>
          <p:nvPr>
            <p:ph type="title"/>
          </p:nvPr>
        </p:nvSpPr>
        <p:spPr>
          <a:xfrm>
            <a:off x="812800" y="911293"/>
            <a:ext cx="10883392" cy="444566"/>
          </a:xfrm>
          <a:prstGeom prst="rect">
            <a:avLst/>
          </a:prstGeom>
          <a:noFill/>
          <a:ln/>
        </p:spPr>
        <p:txBody>
          <a:bodyPr wrap="square" lIns="0" tIns="0" rIns="0" bIns="0" rtlCol="0" anchor="t">
            <a:normAutofit/>
          </a:bodyPr>
          <a:lstStyle/>
          <a:p>
            <a:pPr algn="l" indent="0" marL="0">
              <a:lnSpc>
                <a:spcPts val="3322"/>
              </a:lnSpc>
              <a:buNone/>
            </a:pPr>
            <a:r>
              <a:rPr lang="en-US" sz="3020" b="1" i="0" dirty="0">
                <a:solidFill>
                  <a:srgbClr val="1C1A2E"/>
                </a:solidFill>
                <a:latin typeface="Source Serif 4" pitchFamily="18" charset="0"/>
                <a:ea typeface="Source Serif 4" pitchFamily="18" charset="-122"/>
                <a:cs typeface="Source Serif 4" pitchFamily="18" charset="-120"/>
              </a:rPr>
              <a:t>Dashboard CUP Chile: datos clave para gestionar</a:t>
            </a:r>
            <a:endParaRPr lang="en-US" sz="3020" dirty="0"/>
          </a:p>
        </p:txBody>
      </p:sp>
      <p:pic>
        <p:nvPicPr>
          <p:cNvPr id="4" name="Image 0" descr="Boceto del Dashboard CUP Chile en Figma: filtros, KPI, sitios de metástasis, evolución mensual, distribución territorial, sexo, edad y comparación con metastásicos">    </p:cNvPr>
          <p:cNvPicPr>
            <a:picLocks noChangeAspect="1"/>
          </p:cNvPicPr>
          <p:nvPr/>
        </p:nvPicPr>
        <p:blipFill>
          <a:blip r:embed="rId1"/>
          <a:stretch>
            <a:fillRect/>
          </a:stretch>
        </p:blipFill>
        <p:spPr>
          <a:xfrm>
            <a:off x="1007846" y="1590811"/>
            <a:ext cx="6340908" cy="3967030"/>
          </a:xfrm>
          <a:prstGeom prst="rect">
            <a:avLst/>
          </a:prstGeom>
        </p:spPr>
      </p:pic>
      <p:sp>
        <p:nvSpPr>
          <p:cNvPr id="5" name="Shape 2"/>
          <p:cNvSpPr/>
          <p:nvPr/>
        </p:nvSpPr>
        <p:spPr>
          <a:xfrm>
            <a:off x="815975" y="1587636"/>
            <a:ext cx="6724650" cy="3973380"/>
          </a:xfrm>
          <a:prstGeom prst="roundRect">
            <a:avLst>
              <a:gd name="adj" fmla="val 1838"/>
            </a:avLst>
          </a:prstGeom>
          <a:noFill/>
          <a:ln w="6350">
            <a:solidFill>
              <a:srgbClr val="D9D5EC"/>
            </a:solidFill>
            <a:prstDash val="solid"/>
          </a:ln>
        </p:spPr>
      </p:sp>
      <p:sp>
        <p:nvSpPr>
          <p:cNvPr id="6" name="Text 3"/>
          <p:cNvSpPr/>
          <p:nvPr/>
        </p:nvSpPr>
        <p:spPr>
          <a:xfrm>
            <a:off x="812800" y="5640388"/>
            <a:ext cx="6932930" cy="22701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6E6C7A"/>
                </a:solidFill>
                <a:latin typeface="IBM Plex Sans" pitchFamily="34" charset="0"/>
                <a:ea typeface="IBM Plex Sans" pitchFamily="34" charset="-122"/>
                <a:cs typeface="IBM Plex Sans" pitchFamily="34" charset="-120"/>
              </a:rPr>
              <a:t>Boceto en Figma (datos 2024; se actualizará con 2025).</a:t>
            </a:r>
            <a:endParaRPr lang="en-US" sz="1159" dirty="0"/>
          </a:p>
        </p:txBody>
      </p:sp>
      <p:sp>
        <p:nvSpPr>
          <p:cNvPr id="7" name="Text 4"/>
          <p:cNvSpPr/>
          <p:nvPr/>
        </p:nvSpPr>
        <p:spPr>
          <a:xfrm>
            <a:off x="7848600" y="1584461"/>
            <a:ext cx="36365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3AA7"/>
                </a:solidFill>
                <a:latin typeface="IBM Plex Sans" pitchFamily="34" charset="0"/>
                <a:ea typeface="IBM Plex Sans" pitchFamily="34" charset="-122"/>
                <a:cs typeface="IBM Plex Sans" pitchFamily="34" charset="-120"/>
              </a:rPr>
              <a:t>Usuario</a:t>
            </a:r>
            <a:endParaRPr lang="en-US" sz="1400" dirty="0"/>
          </a:p>
        </p:txBody>
      </p:sp>
      <p:sp>
        <p:nvSpPr>
          <p:cNvPr id="8" name="Text 5"/>
          <p:cNvSpPr/>
          <p:nvPr/>
        </p:nvSpPr>
        <p:spPr>
          <a:xfrm>
            <a:off x="7848600" y="1835882"/>
            <a:ext cx="363651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D4F"/>
                </a:solidFill>
                <a:latin typeface="IBM Plex Sans" pitchFamily="34" charset="0"/>
                <a:ea typeface="IBM Plex Sans" pitchFamily="34" charset="-122"/>
                <a:cs typeface="IBM Plex Sans" pitchFamily="34" charset="-120"/>
              </a:rPr>
              <a:t>Equipos de gestión clínica y oncológica de la red pública.</a:t>
            </a:r>
            <a:endParaRPr lang="en-US" sz="1200" dirty="0"/>
          </a:p>
        </p:txBody>
      </p:sp>
      <p:sp>
        <p:nvSpPr>
          <p:cNvPr id="9" name="Text 6"/>
          <p:cNvSpPr/>
          <p:nvPr/>
        </p:nvSpPr>
        <p:spPr>
          <a:xfrm>
            <a:off x="7848600" y="2387005"/>
            <a:ext cx="36365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3AA7"/>
                </a:solidFill>
                <a:latin typeface="IBM Plex Sans" pitchFamily="34" charset="0"/>
                <a:ea typeface="IBM Plex Sans" pitchFamily="34" charset="-122"/>
                <a:cs typeface="IBM Plex Sans" pitchFamily="34" charset="-120"/>
              </a:rPr>
              <a:t>KPI</a:t>
            </a:r>
            <a:endParaRPr lang="en-US" sz="1400" dirty="0"/>
          </a:p>
        </p:txBody>
      </p:sp>
      <p:sp>
        <p:nvSpPr>
          <p:cNvPr id="10" name="Text 7"/>
          <p:cNvSpPr/>
          <p:nvPr/>
        </p:nvSpPr>
        <p:spPr>
          <a:xfrm>
            <a:off x="7848600" y="2638425"/>
            <a:ext cx="363651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D4F"/>
                </a:solidFill>
                <a:latin typeface="IBM Plex Sans" pitchFamily="34" charset="0"/>
                <a:ea typeface="IBM Plex Sans" pitchFamily="34" charset="-122"/>
                <a:cs typeface="IBM Plex Sans" pitchFamily="34" charset="-120"/>
              </a:rPr>
              <a:t>Hospitalizaciones, pacientes, mortalidad, estadía mediana y peso GRD, con variación frente al año anterior.</a:t>
            </a:r>
            <a:endParaRPr lang="en-US" sz="1200" dirty="0"/>
          </a:p>
        </p:txBody>
      </p:sp>
      <p:sp>
        <p:nvSpPr>
          <p:cNvPr id="11" name="Text 8"/>
          <p:cNvSpPr/>
          <p:nvPr/>
        </p:nvSpPr>
        <p:spPr>
          <a:xfrm>
            <a:off x="7848600" y="3395266"/>
            <a:ext cx="36365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3AA7"/>
                </a:solidFill>
                <a:latin typeface="IBM Plex Sans" pitchFamily="34" charset="0"/>
                <a:ea typeface="IBM Plex Sans" pitchFamily="34" charset="-122"/>
                <a:cs typeface="IBM Plex Sans" pitchFamily="34" charset="-120"/>
              </a:rPr>
              <a:t>Filtros</a:t>
            </a:r>
            <a:endParaRPr lang="en-US" sz="1400" dirty="0"/>
          </a:p>
        </p:txBody>
      </p:sp>
      <p:sp>
        <p:nvSpPr>
          <p:cNvPr id="12" name="Text 9"/>
          <p:cNvSpPr/>
          <p:nvPr/>
        </p:nvSpPr>
        <p:spPr>
          <a:xfrm>
            <a:off x="7848600" y="3646686"/>
            <a:ext cx="363651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D4F"/>
                </a:solidFill>
                <a:latin typeface="IBM Plex Sans" pitchFamily="34" charset="0"/>
                <a:ea typeface="IBM Plex Sans" pitchFamily="34" charset="-122"/>
                <a:cs typeface="IBM Plex Sans" pitchFamily="34" charset="-120"/>
              </a:rPr>
              <a:t>Año, región, Servicio de Salud, hospital, sexo, edad, tipo de ingreso y definición (C80.0 o C80.0 + C80.9).</a:t>
            </a:r>
            <a:endParaRPr lang="en-US" sz="1200" dirty="0"/>
          </a:p>
        </p:txBody>
      </p:sp>
      <p:sp>
        <p:nvSpPr>
          <p:cNvPr id="13" name="Text 10"/>
          <p:cNvSpPr/>
          <p:nvPr/>
        </p:nvSpPr>
        <p:spPr>
          <a:xfrm>
            <a:off x="7848600" y="4403527"/>
            <a:ext cx="36365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3AA7"/>
                </a:solidFill>
                <a:latin typeface="IBM Plex Sans" pitchFamily="34" charset="0"/>
                <a:ea typeface="IBM Plex Sans" pitchFamily="34" charset="-122"/>
                <a:cs typeface="IBM Plex Sans" pitchFamily="34" charset="-120"/>
              </a:rPr>
              <a:t>Pestañas</a:t>
            </a:r>
            <a:endParaRPr lang="en-US" sz="1400" dirty="0"/>
          </a:p>
        </p:txBody>
      </p:sp>
      <p:sp>
        <p:nvSpPr>
          <p:cNvPr id="14" name="Text 11"/>
          <p:cNvSpPr/>
          <p:nvPr/>
        </p:nvSpPr>
        <p:spPr>
          <a:xfrm>
            <a:off x="7848600" y="4654947"/>
            <a:ext cx="363651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D4F"/>
                </a:solidFill>
                <a:latin typeface="IBM Plex Sans" pitchFamily="34" charset="0"/>
                <a:ea typeface="IBM Plex Sans" pitchFamily="34" charset="-122"/>
                <a:cs typeface="IBM Plex Sans" pitchFamily="34" charset="-120"/>
              </a:rPr>
              <a:t>Inicio · Análisis (trayectoria y metástasis) · Comparaciones (CUP frente a los metastásicos) · Territorio (embudo y mapa).</a:t>
            </a:r>
            <a:endParaRPr lang="en-US" sz="1200" dirty="0"/>
          </a:p>
        </p:txBody>
      </p:sp>
      <p:sp>
        <p:nvSpPr>
          <p:cNvPr id="15" name="Text 12"/>
          <p:cNvSpPr/>
          <p:nvPr/>
        </p:nvSpPr>
        <p:spPr>
          <a:xfrm>
            <a:off x="812800" y="6289080"/>
            <a:ext cx="30550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Dashboard CUP Chile · Primer avance</a:t>
            </a:r>
            <a:endParaRPr lang="en-US" sz="1200" dirty="0"/>
          </a:p>
        </p:txBody>
      </p:sp>
      <p:sp>
        <p:nvSpPr>
          <p:cNvPr id="16" name="Text 13"/>
          <p:cNvSpPr/>
          <p:nvPr/>
        </p:nvSpPr>
        <p:spPr>
          <a:xfrm>
            <a:off x="9847580" y="6289080"/>
            <a:ext cx="15316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Max · 10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3AA7"/>
                </a:solidFill>
                <a:latin typeface="IBM Plex Sans" pitchFamily="34" charset="0"/>
                <a:ea typeface="IBM Plex Sans" pitchFamily="34" charset="-122"/>
                <a:cs typeface="IBM Plex Sans" pitchFamily="34" charset="-120"/>
              </a:rPr>
              <a:t>PLAN DE TRABAJO</a:t>
            </a:r>
            <a:endParaRPr lang="en-US" sz="1200" dirty="0"/>
          </a:p>
        </p:txBody>
      </p:sp>
      <p:sp>
        <p:nvSpPr>
          <p:cNvPr id="3" name="Text 1"/>
          <p:cNvSpPr/>
          <p:nvPr>
            <p:ph type="title"/>
          </p:nvPr>
        </p:nvSpPr>
        <p:spPr>
          <a:xfrm>
            <a:off x="812800" y="9245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2E"/>
                </a:solidFill>
                <a:latin typeface="Source Serif 4" pitchFamily="18" charset="0"/>
                <a:ea typeface="Source Serif 4" pitchFamily="18" charset="-122"/>
                <a:cs typeface="Source Serif 4" pitchFamily="18" charset="-120"/>
              </a:rPr>
              <a:t>Seis semanas hasta la entrega final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38238"/>
          <a:ext cx="10553700" cy="2661179"/>
        </p:xfrm>
        <a:graphic>
          <a:graphicData uri="http://schemas.openxmlformats.org/drawingml/2006/table">
            <a:tbl>
              <a:tblPr/>
              <a:tblGrid>
                <a:gridCol w="949833"/>
                <a:gridCol w="1583055"/>
                <a:gridCol w="5910072"/>
                <a:gridCol w="2110740"/>
              </a:tblGrid>
              <a:tr h="332647">
                <a:tc>
                  <a:txBody>
                    <a:bodyPr/>
                    <a:lstStyle/>
                    <a:p>
                      <a:pPr indent="0" marL="0">
                        <a:lnSpc>
                          <a:spcPts val="1680"/>
                        </a:lnSpc>
                        <a:buNone/>
                      </a:pPr>
                      <a:r>
                        <a:rPr lang="en-US" sz="1200" b="1" dirty="0">
                          <a:solidFill>
                            <a:srgbClr val="1C1A2E"/>
                          </a:solidFill>
                          <a:latin typeface="IBM Plex Sans" pitchFamily="34" charset="0"/>
                          <a:ea typeface="IBM Plex Sans" pitchFamily="34" charset="-122"/>
                          <a:cs typeface="IBM Plex Sans" pitchFamily="34" charset="-120"/>
                        </a:rPr>
                        <a:t>Semana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c>
                  <a:txBody>
                    <a:bodyPr/>
                    <a:lstStyle/>
                    <a:p>
                      <a:pPr indent="0" marL="0">
                        <a:lnSpc>
                          <a:spcPts val="1680"/>
                        </a:lnSpc>
                        <a:buNone/>
                      </a:pPr>
                      <a:r>
                        <a:rPr lang="en-US" sz="1200" b="1" dirty="0">
                          <a:solidFill>
                            <a:srgbClr val="1C1A2E"/>
                          </a:solidFill>
                          <a:latin typeface="IBM Plex Sans" pitchFamily="34" charset="0"/>
                          <a:ea typeface="IBM Plex Sans" pitchFamily="34" charset="-122"/>
                          <a:cs typeface="IBM Plex Sans" pitchFamily="34" charset="-120"/>
                        </a:rPr>
                        <a:t>Fechas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9"/>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c>
                  <a:txBody>
                    <a:bodyPr/>
                    <a:lstStyle/>
                    <a:p>
                      <a:pPr indent="0" marL="0">
                        <a:lnSpc>
                          <a:spcPts val="1680"/>
                        </a:lnSpc>
                        <a:buNone/>
                      </a:pPr>
                      <a:r>
                        <a:rPr lang="en-US" sz="1200" b="1" dirty="0">
                          <a:solidFill>
                            <a:srgbClr val="1C1A2E"/>
                          </a:solidFill>
                          <a:latin typeface="IBM Plex Sans" pitchFamily="34" charset="0"/>
                          <a:ea typeface="IBM Plex Sans" pitchFamily="34" charset="-122"/>
                          <a:cs typeface="IBM Plex Sans" pitchFamily="34" charset="-120"/>
                        </a:rPr>
                        <a:t>Actividades e hitos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9"/>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c>
                  <a:txBody>
                    <a:bodyPr/>
                    <a:lstStyle/>
                    <a:p>
                      <a:pPr indent="0" marL="0">
                        <a:lnSpc>
                          <a:spcPts val="1680"/>
                        </a:lnSpc>
                        <a:buNone/>
                      </a:pPr>
                      <a:r>
                        <a:rPr lang="en-US" sz="1200" b="1" dirty="0">
                          <a:solidFill>
                            <a:srgbClr val="1C1A2E"/>
                          </a:solidFill>
                          <a:latin typeface="IBM Plex Sans" pitchFamily="34" charset="0"/>
                          <a:ea typeface="IBM Plex Sans" pitchFamily="34" charset="-122"/>
                          <a:cs typeface="IBM Plex Sans" pitchFamily="34" charset="-120"/>
                        </a:rPr>
                        <a:t>Responsable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9"/>
                      </a:solidFill>
                      <a:prstDash val="solid"/>
                      <a:round/>
                      <a:headEnd type="none" w="med" len="med"/>
                      <a:tailEnd type="none" w="med" len="med"/>
                    </a:lnL>
                    <a:lnR w="12700" cap="flat" cmpd="sng" algn="ctr">
                      <a:solidFill>
                        <a:srgbClr val="BABAB9"/>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ABAB9"/>
                      </a:solidFill>
                      <a:prstDash val="solid"/>
                      <a:round/>
                      <a:headEnd type="none" w="med" len="med"/>
                      <a:tailEnd type="none" w="med" len="med"/>
                    </a:lnB>
                    <a:solidFill>
                      <a:srgbClr val="E9E9E8"/>
                    </a:solidFill>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12–18 oct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Hito: Avance 1 · EDA interpretado y boceto del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Todos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BABAB9"/>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19–25 oct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Intervalos de confianza de los KPI · estructura del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Agustín · Max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26 oct–1 nov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Pruebas de hipótesis CUP frente a grupos · filtros e interacciones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Bastián · Max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2–8 nov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ANOVA por Servicio de Salud · pestañas Comparaciones y Territorio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Bastián · Max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9–15 nov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Hito: revisión de avances · regresión de la estadía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Todos · Agustín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16–22 nov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Pruebas del dashboard, corrección de errores e interpretación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Todos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9C5"/>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23–29 nov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Hito: entrega final · presentación oral, informe y póster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c>
                  <a:txBody>
                    <a:bodyPr/>
                    <a:lstStyle/>
                    <a:p>
                      <a:pPr indent="0" marL="0">
                        <a:lnSpc>
                          <a:spcPts val="1680"/>
                        </a:lnSpc>
                        <a:buNone/>
                      </a:pPr>
                      <a:r>
                        <a:rPr lang="en-US" sz="1200" dirty="0">
                          <a:solidFill>
                            <a:srgbClr val="1C1A2E"/>
                          </a:solidFill>
                          <a:latin typeface="IBM Plex Sans" pitchFamily="34" charset="0"/>
                          <a:ea typeface="IBM Plex Sans" pitchFamily="34" charset="-122"/>
                          <a:cs typeface="IBM Plex Sans" pitchFamily="34" charset="-120"/>
                        </a:rPr>
                        <a:t>Todos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C5"/>
                      </a:solidFill>
                      <a:prstDash val="solid"/>
                      <a:round/>
                      <a:headEnd type="none" w="med" len="med"/>
                      <a:tailEnd type="none" w="med" len="med"/>
                    </a:lnL>
                    <a:lnR w="12700" cap="flat" cmpd="sng" algn="ctr">
                      <a:solidFill>
                        <a:srgbClr val="BCB9C5"/>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CB9C5"/>
                      </a:solidFill>
                      <a:prstDash val="solid"/>
                      <a:round/>
                      <a:headEnd type="none" w="med" len="med"/>
                      <a:tailEnd type="none" w="med" len="med"/>
                    </a:lnB>
                    <a:solidFill>
                      <a:srgbClr val="EBE8F7"/>
                    </a:solidFill>
                  </a:tcPr>
                </a:tc>
              </a:tr>
            </a:tbl>
          </a:graphicData>
        </a:graphic>
      </p:graphicFrame>
      <p:sp>
        <p:nvSpPr>
          <p:cNvPr id="5" name="Text 2"/>
          <p:cNvSpPr/>
          <p:nvPr/>
        </p:nvSpPr>
        <p:spPr>
          <a:xfrm>
            <a:off x="812800" y="6289080"/>
            <a:ext cx="32476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Fechas del calendario del curso 2026-2</a:t>
            </a:r>
            <a:endParaRPr lang="en-US" sz="1200" dirty="0"/>
          </a:p>
        </p:txBody>
      </p:sp>
      <p:sp>
        <p:nvSpPr>
          <p:cNvPr id="6" name="Text 3"/>
          <p:cNvSpPr/>
          <p:nvPr/>
        </p:nvSpPr>
        <p:spPr>
          <a:xfrm>
            <a:off x="9847580" y="6289080"/>
            <a:ext cx="15316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Bastián · 11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3AA7"/>
                </a:solidFill>
                <a:latin typeface="IBM Plex Sans" pitchFamily="34" charset="0"/>
                <a:ea typeface="IBM Plex Sans" pitchFamily="34" charset="-122"/>
                <a:cs typeface="IBM Plex Sans" pitchFamily="34" charset="-120"/>
              </a:rPr>
              <a:t>INTEGRANTES Y ROLES</a:t>
            </a:r>
            <a:endParaRPr lang="en-US" sz="1200" dirty="0"/>
          </a:p>
        </p:txBody>
      </p:sp>
      <p:sp>
        <p:nvSpPr>
          <p:cNvPr id="3" name="Text 1"/>
          <p:cNvSpPr/>
          <p:nvPr>
            <p:ph type="title"/>
          </p:nvPr>
        </p:nvSpPr>
        <p:spPr>
          <a:xfrm>
            <a:off x="812800" y="10261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2E"/>
                </a:solidFill>
                <a:latin typeface="Source Serif 4" pitchFamily="18" charset="0"/>
                <a:ea typeface="Source Serif 4" pitchFamily="18" charset="-122"/>
                <a:cs typeface="Source Serif 4" pitchFamily="18" charset="-120"/>
              </a:rPr>
              <a:t>Un rol principal por persona, todos en el cierre</a:t>
            </a:r>
            <a:endParaRPr lang="en-US" sz="3200" dirty="0"/>
          </a:p>
        </p:txBody>
      </p:sp>
      <p:sp>
        <p:nvSpPr>
          <p:cNvPr id="4" name="Shape 2"/>
          <p:cNvSpPr/>
          <p:nvPr/>
        </p:nvSpPr>
        <p:spPr>
          <a:xfrm>
            <a:off x="812800" y="1777938"/>
            <a:ext cx="3386667" cy="1935361"/>
          </a:xfrm>
          <a:prstGeom prst="roundRect">
            <a:avLst>
              <a:gd name="adj" fmla="val 5250"/>
            </a:avLst>
          </a:prstGeom>
          <a:solidFill>
            <a:srgbClr val="F2F0F9"/>
          </a:solidFill>
          <a:ln/>
        </p:spPr>
      </p:sp>
      <p:sp>
        <p:nvSpPr>
          <p:cNvPr id="5" name="Shape 3"/>
          <p:cNvSpPr/>
          <p:nvPr/>
        </p:nvSpPr>
        <p:spPr>
          <a:xfrm>
            <a:off x="812800" y="1777938"/>
            <a:ext cx="3386667" cy="1935361"/>
          </a:xfrm>
          <a:custGeom>
            <a:avLst/>
            <a:gdLst/>
            <a:ahLst/>
            <a:cxnLst/>
            <a:rect l="l" t="t" r="r" b="b"/>
            <a:pathLst>
              <a:path w="3386667" h="1935361">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4A3AA7"/>
          </a:solidFill>
          <a:ln/>
        </p:spPr>
      </p:sp>
      <p:sp>
        <p:nvSpPr>
          <p:cNvPr id="6" name="Text 4"/>
          <p:cNvSpPr/>
          <p:nvPr/>
        </p:nvSpPr>
        <p:spPr>
          <a:xfrm>
            <a:off x="1066800" y="2082738"/>
            <a:ext cx="296502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A2E"/>
                </a:solidFill>
                <a:latin typeface="IBM Plex Sans" pitchFamily="34" charset="0"/>
                <a:ea typeface="IBM Plex Sans" pitchFamily="34" charset="-122"/>
                <a:cs typeface="IBM Plex Sans" pitchFamily="34" charset="-120"/>
              </a:rPr>
              <a:t>Bastián Campos</a:t>
            </a:r>
            <a:endParaRPr lang="en-US" sz="1800" dirty="0"/>
          </a:p>
        </p:txBody>
      </p:sp>
      <p:sp>
        <p:nvSpPr>
          <p:cNvPr id="7" name="Text 5"/>
          <p:cNvSpPr/>
          <p:nvPr/>
        </p:nvSpPr>
        <p:spPr>
          <a:xfrm>
            <a:off x="1066800" y="2445941"/>
            <a:ext cx="296502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3AA7"/>
                </a:solidFill>
                <a:latin typeface="IBM Plex Sans" pitchFamily="34" charset="0"/>
                <a:ea typeface="IBM Plex Sans" pitchFamily="34" charset="-122"/>
                <a:cs typeface="IBM Plex Sans" pitchFamily="34" charset="-120"/>
              </a:rPr>
              <a:t>Datos y análisis exploratorio</a:t>
            </a:r>
            <a:endParaRPr lang="en-US" sz="1300" dirty="0"/>
          </a:p>
        </p:txBody>
      </p:sp>
      <p:sp>
        <p:nvSpPr>
          <p:cNvPr id="8" name="Text 6"/>
          <p:cNvSpPr/>
          <p:nvPr/>
        </p:nvSpPr>
        <p:spPr>
          <a:xfrm>
            <a:off x="1066800" y="2765958"/>
            <a:ext cx="296502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D4F"/>
                </a:solidFill>
                <a:latin typeface="IBM Plex Sans" pitchFamily="34" charset="0"/>
                <a:ea typeface="IBM Plex Sans" pitchFamily="34" charset="-122"/>
                <a:cs typeface="IBM Plex Sans" pitchFamily="34" charset="-120"/>
              </a:rPr>
              <a:t>Extracción y limpieza de los GRD, variables derivadas, EDA y pruebas estadísticas.</a:t>
            </a:r>
            <a:endParaRPr lang="en-US" sz="1300" dirty="0"/>
          </a:p>
        </p:txBody>
      </p:sp>
      <p:sp>
        <p:nvSpPr>
          <p:cNvPr id="9" name="Shape 7"/>
          <p:cNvSpPr/>
          <p:nvPr/>
        </p:nvSpPr>
        <p:spPr>
          <a:xfrm>
            <a:off x="4402667" y="1777938"/>
            <a:ext cx="3386667" cy="1935361"/>
          </a:xfrm>
          <a:prstGeom prst="roundRect">
            <a:avLst>
              <a:gd name="adj" fmla="val 5250"/>
            </a:avLst>
          </a:prstGeom>
          <a:solidFill>
            <a:srgbClr val="F2F0F9"/>
          </a:solidFill>
          <a:ln/>
        </p:spPr>
      </p:sp>
      <p:sp>
        <p:nvSpPr>
          <p:cNvPr id="10" name="Shape 8"/>
          <p:cNvSpPr/>
          <p:nvPr/>
        </p:nvSpPr>
        <p:spPr>
          <a:xfrm>
            <a:off x="4402667" y="1777938"/>
            <a:ext cx="3386667" cy="1935361"/>
          </a:xfrm>
          <a:custGeom>
            <a:avLst/>
            <a:gdLst/>
            <a:ahLst/>
            <a:cxnLst/>
            <a:rect l="l" t="t" r="r" b="b"/>
            <a:pathLst>
              <a:path w="3386667" h="1935361">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4A3AA7"/>
          </a:solidFill>
          <a:ln/>
        </p:spPr>
      </p:sp>
      <p:sp>
        <p:nvSpPr>
          <p:cNvPr id="11" name="Text 9"/>
          <p:cNvSpPr/>
          <p:nvPr/>
        </p:nvSpPr>
        <p:spPr>
          <a:xfrm>
            <a:off x="4656667" y="2082738"/>
            <a:ext cx="296502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A2E"/>
                </a:solidFill>
                <a:latin typeface="IBM Plex Sans" pitchFamily="34" charset="0"/>
                <a:ea typeface="IBM Plex Sans" pitchFamily="34" charset="-122"/>
                <a:cs typeface="IBM Plex Sans" pitchFamily="34" charset="-120"/>
              </a:rPr>
              <a:t>Maximiliano Mella</a:t>
            </a:r>
            <a:endParaRPr lang="en-US" sz="1800" dirty="0"/>
          </a:p>
        </p:txBody>
      </p:sp>
      <p:sp>
        <p:nvSpPr>
          <p:cNvPr id="12" name="Text 10"/>
          <p:cNvSpPr/>
          <p:nvPr/>
        </p:nvSpPr>
        <p:spPr>
          <a:xfrm>
            <a:off x="4656667" y="2445941"/>
            <a:ext cx="296502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3AA7"/>
                </a:solidFill>
                <a:latin typeface="IBM Plex Sans" pitchFamily="34" charset="0"/>
                <a:ea typeface="IBM Plex Sans" pitchFamily="34" charset="-122"/>
                <a:cs typeface="IBM Plex Sans" pitchFamily="34" charset="-120"/>
              </a:rPr>
              <a:t>Desarrollo del dashboard</a:t>
            </a:r>
            <a:endParaRPr lang="en-US" sz="1300" dirty="0"/>
          </a:p>
        </p:txBody>
      </p:sp>
      <p:sp>
        <p:nvSpPr>
          <p:cNvPr id="13" name="Text 11"/>
          <p:cNvSpPr/>
          <p:nvPr/>
        </p:nvSpPr>
        <p:spPr>
          <a:xfrm>
            <a:off x="4656667" y="2765958"/>
            <a:ext cx="296502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D4F"/>
                </a:solidFill>
                <a:latin typeface="IBM Plex Sans" pitchFamily="34" charset="0"/>
                <a:ea typeface="IBM Plex Sans" pitchFamily="34" charset="-122"/>
                <a:cs typeface="IBM Plex Sans" pitchFamily="34" charset="-120"/>
              </a:rPr>
              <a:t>Estructura, filtros, selectores y vistas dinámicas; integración de los gráficos.</a:t>
            </a:r>
            <a:endParaRPr lang="en-US" sz="1300" dirty="0"/>
          </a:p>
        </p:txBody>
      </p:sp>
      <p:sp>
        <p:nvSpPr>
          <p:cNvPr id="14" name="Shape 12"/>
          <p:cNvSpPr/>
          <p:nvPr/>
        </p:nvSpPr>
        <p:spPr>
          <a:xfrm>
            <a:off x="7992534" y="1777938"/>
            <a:ext cx="3386667" cy="1935361"/>
          </a:xfrm>
          <a:prstGeom prst="roundRect">
            <a:avLst>
              <a:gd name="adj" fmla="val 5250"/>
            </a:avLst>
          </a:prstGeom>
          <a:solidFill>
            <a:srgbClr val="F2F0F9"/>
          </a:solidFill>
          <a:ln/>
        </p:spPr>
      </p:sp>
      <p:sp>
        <p:nvSpPr>
          <p:cNvPr id="15" name="Shape 13"/>
          <p:cNvSpPr/>
          <p:nvPr/>
        </p:nvSpPr>
        <p:spPr>
          <a:xfrm>
            <a:off x="7992534" y="1777938"/>
            <a:ext cx="3386667" cy="1935361"/>
          </a:xfrm>
          <a:custGeom>
            <a:avLst/>
            <a:gdLst/>
            <a:ahLst/>
            <a:cxnLst/>
            <a:rect l="l" t="t" r="r" b="b"/>
            <a:pathLst>
              <a:path w="3386667" h="1935361">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4A3AA7"/>
          </a:solidFill>
          <a:ln/>
        </p:spPr>
      </p:sp>
      <p:sp>
        <p:nvSpPr>
          <p:cNvPr id="16" name="Text 14"/>
          <p:cNvSpPr/>
          <p:nvPr/>
        </p:nvSpPr>
        <p:spPr>
          <a:xfrm>
            <a:off x="8246534" y="2082738"/>
            <a:ext cx="296502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A2E"/>
                </a:solidFill>
                <a:latin typeface="IBM Plex Sans" pitchFamily="34" charset="0"/>
                <a:ea typeface="IBM Plex Sans" pitchFamily="34" charset="-122"/>
                <a:cs typeface="IBM Plex Sans" pitchFamily="34" charset="-120"/>
              </a:rPr>
              <a:t>Agustín Tapia</a:t>
            </a:r>
            <a:endParaRPr lang="en-US" sz="1800" dirty="0"/>
          </a:p>
        </p:txBody>
      </p:sp>
      <p:sp>
        <p:nvSpPr>
          <p:cNvPr id="17" name="Text 15"/>
          <p:cNvSpPr/>
          <p:nvPr/>
        </p:nvSpPr>
        <p:spPr>
          <a:xfrm>
            <a:off x="8246534" y="2445941"/>
            <a:ext cx="296502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3AA7"/>
                </a:solidFill>
                <a:latin typeface="IBM Plex Sans" pitchFamily="34" charset="0"/>
                <a:ea typeface="IBM Plex Sans" pitchFamily="34" charset="-122"/>
                <a:cs typeface="IBM Plex Sans" pitchFamily="34" charset="-120"/>
              </a:rPr>
              <a:t>Visualización e interpretación</a:t>
            </a:r>
            <a:endParaRPr lang="en-US" sz="1300" dirty="0"/>
          </a:p>
        </p:txBody>
      </p:sp>
      <p:sp>
        <p:nvSpPr>
          <p:cNvPr id="18" name="Text 16"/>
          <p:cNvSpPr/>
          <p:nvPr/>
        </p:nvSpPr>
        <p:spPr>
          <a:xfrm>
            <a:off x="8246534" y="2765958"/>
            <a:ext cx="296502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D4F"/>
                </a:solidFill>
                <a:latin typeface="IBM Plex Sans" pitchFamily="34" charset="0"/>
                <a:ea typeface="IBM Plex Sans" pitchFamily="34" charset="-122"/>
                <a:cs typeface="IBM Plex Sans" pitchFamily="34" charset="-120"/>
              </a:rPr>
              <a:t>Diseño de gráficos y del boceto; interpretación estadística (intervalos, regresión).</a:t>
            </a:r>
            <a:endParaRPr lang="en-US" sz="1300" dirty="0"/>
          </a:p>
        </p:txBody>
      </p:sp>
      <p:sp>
        <p:nvSpPr>
          <p:cNvPr id="19" name="Shape 17"/>
          <p:cNvSpPr/>
          <p:nvPr/>
        </p:nvSpPr>
        <p:spPr>
          <a:xfrm>
            <a:off x="831850" y="4018099"/>
            <a:ext cx="0" cy="513027"/>
          </a:xfrm>
          <a:prstGeom prst="line">
            <a:avLst/>
          </a:prstGeom>
          <a:noFill/>
          <a:ln w="38100">
            <a:solidFill>
              <a:srgbClr val="C9C3EF"/>
            </a:solidFill>
            <a:prstDash val="solid"/>
          </a:ln>
        </p:spPr>
      </p:sp>
      <p:sp>
        <p:nvSpPr>
          <p:cNvPr id="20" name="Text 18"/>
          <p:cNvSpPr/>
          <p:nvPr/>
        </p:nvSpPr>
        <p:spPr>
          <a:xfrm>
            <a:off x="1003300" y="4043499"/>
            <a:ext cx="10687177"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F3D4F"/>
                </a:solidFill>
                <a:latin typeface="IBM Plex Sans" pitchFamily="34" charset="0"/>
                <a:ea typeface="IBM Plex Sans" pitchFamily="34" charset="-122"/>
                <a:cs typeface="IBM Plex Sans" pitchFamily="34" charset="-120"/>
              </a:rPr>
              <a:t>Coordinación:</a:t>
            </a:r>
            <a:r>
              <a:rPr lang="en-US" sz="1300" dirty="0">
                <a:solidFill>
                  <a:srgbClr val="3F3D4F"/>
                </a:solidFill>
                <a:latin typeface="IBM Plex Sans" pitchFamily="34" charset="0"/>
                <a:ea typeface="IBM Plex Sans" pitchFamily="34" charset="-122"/>
                <a:cs typeface="IBM Plex Sans" pitchFamily="34" charset="-120"/>
              </a:rPr>
              <a:t> un repositorio compartido con el notebook y la base de datos, y una reunión semanal del equipo. En las semanas 13 y 14, los tres hacen pruebas, informe y presentación.</a:t>
            </a:r>
            <a:endParaRPr lang="en-US" sz="1300" dirty="0"/>
          </a:p>
        </p:txBody>
      </p:sp>
      <p:sp>
        <p:nvSpPr>
          <p:cNvPr id="21" name="Text 19"/>
          <p:cNvSpPr/>
          <p:nvPr/>
        </p:nvSpPr>
        <p:spPr>
          <a:xfrm>
            <a:off x="812800" y="6289080"/>
            <a:ext cx="30550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Dashboard CUP Chile · Primer avance</a:t>
            </a:r>
            <a:endParaRPr lang="en-US" sz="1200" dirty="0"/>
          </a:p>
        </p:txBody>
      </p:sp>
      <p:sp>
        <p:nvSpPr>
          <p:cNvPr id="22" name="Text 20"/>
          <p:cNvSpPr/>
          <p:nvPr/>
        </p:nvSpPr>
        <p:spPr>
          <a:xfrm>
            <a:off x="9847580" y="6289080"/>
            <a:ext cx="15316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Max · 12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1A3D"/>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C3EF"/>
                </a:solidFill>
                <a:latin typeface="IBM Plex Sans" pitchFamily="34" charset="0"/>
                <a:ea typeface="IBM Plex Sans" pitchFamily="34" charset="-122"/>
                <a:cs typeface="IBM Plex Sans" pitchFamily="34" charset="-120"/>
              </a:rPr>
              <a:t>EN RESUMEN</a:t>
            </a:r>
            <a:endParaRPr lang="en-US" sz="1200" dirty="0"/>
          </a:p>
        </p:txBody>
      </p:sp>
      <p:sp>
        <p:nvSpPr>
          <p:cNvPr id="3" name="Text 1"/>
          <p:cNvSpPr/>
          <p:nvPr>
            <p:ph type="title"/>
          </p:nvPr>
        </p:nvSpPr>
        <p:spPr>
          <a:xfrm>
            <a:off x="812800" y="102612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CFCFB"/>
                </a:solidFill>
                <a:latin typeface="Source Serif 4" pitchFamily="18" charset="0"/>
                <a:ea typeface="Source Serif 4" pitchFamily="18" charset="-122"/>
                <a:cs typeface="Source Serif 4" pitchFamily="18" charset="-120"/>
              </a:rPr>
              <a:t>Al CUP le va tan mal como a pulmón, y la red lo atiende fuera del circuito oncológico</a:t>
            </a:r>
            <a:endParaRPr lang="en-US" sz="3200" dirty="0"/>
          </a:p>
        </p:txBody>
      </p:sp>
      <p:sp>
        <p:nvSpPr>
          <p:cNvPr id="4" name="Shape 2"/>
          <p:cNvSpPr/>
          <p:nvPr/>
        </p:nvSpPr>
        <p:spPr>
          <a:xfrm>
            <a:off x="812800" y="2955330"/>
            <a:ext cx="3318933" cy="0"/>
          </a:xfrm>
          <a:prstGeom prst="line">
            <a:avLst/>
          </a:prstGeom>
          <a:noFill/>
          <a:ln w="12700">
            <a:solidFill>
              <a:srgbClr val="7B6FD6"/>
            </a:solidFill>
            <a:prstDash val="solid"/>
          </a:ln>
        </p:spPr>
      </p:sp>
      <p:sp>
        <p:nvSpPr>
          <p:cNvPr id="5" name="Text 3"/>
          <p:cNvSpPr/>
          <p:nvPr/>
        </p:nvSpPr>
        <p:spPr>
          <a:xfrm>
            <a:off x="812800" y="3139480"/>
            <a:ext cx="3418501"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9A6E"/>
                </a:solidFill>
                <a:latin typeface="Source Serif 4" pitchFamily="18" charset="0"/>
                <a:ea typeface="Source Serif 4" pitchFamily="18" charset="-122"/>
                <a:cs typeface="Source Serif 4" pitchFamily="18" charset="-120"/>
              </a:rPr>
              <a:t>22 de 100</a:t>
            </a:r>
            <a:endParaRPr lang="en-US" sz="3600" dirty="0"/>
          </a:p>
        </p:txBody>
      </p:sp>
      <p:sp>
        <p:nvSpPr>
          <p:cNvPr id="6" name="Text 4"/>
          <p:cNvSpPr/>
          <p:nvPr/>
        </p:nvSpPr>
        <p:spPr>
          <a:xfrm>
            <a:off x="812800" y="3843015"/>
            <a:ext cx="341850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5EC"/>
                </a:solidFill>
                <a:latin typeface="IBM Plex Sans" pitchFamily="34" charset="0"/>
                <a:ea typeface="IBM Plex Sans" pitchFamily="34" charset="-122"/>
                <a:cs typeface="IBM Plex Sans" pitchFamily="34" charset="-120"/>
              </a:rPr>
              <a:t>mueren en el hospital, como en pulmón y más que en los otros cuatro cánceres.</a:t>
            </a:r>
            <a:endParaRPr lang="en-US" sz="1400" dirty="0"/>
          </a:p>
        </p:txBody>
      </p:sp>
      <p:sp>
        <p:nvSpPr>
          <p:cNvPr id="7" name="Shape 5"/>
          <p:cNvSpPr/>
          <p:nvPr/>
        </p:nvSpPr>
        <p:spPr>
          <a:xfrm>
            <a:off x="4436533" y="2955330"/>
            <a:ext cx="3318933" cy="0"/>
          </a:xfrm>
          <a:prstGeom prst="line">
            <a:avLst/>
          </a:prstGeom>
          <a:noFill/>
          <a:ln w="12700">
            <a:solidFill>
              <a:srgbClr val="7B6FD6"/>
            </a:solidFill>
            <a:prstDash val="solid"/>
          </a:ln>
        </p:spPr>
      </p:sp>
      <p:sp>
        <p:nvSpPr>
          <p:cNvPr id="8" name="Text 6"/>
          <p:cNvSpPr/>
          <p:nvPr/>
        </p:nvSpPr>
        <p:spPr>
          <a:xfrm>
            <a:off x="4436533" y="3139480"/>
            <a:ext cx="3418501"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CFCFB"/>
                </a:solidFill>
                <a:latin typeface="Source Serif 4" pitchFamily="18" charset="0"/>
                <a:ea typeface="Source Serif 4" pitchFamily="18" charset="-122"/>
                <a:cs typeface="Source Serif 4" pitchFamily="18" charset="-120"/>
              </a:rPr>
              <a:t>5 de 100</a:t>
            </a:r>
            <a:endParaRPr lang="en-US" sz="3600" dirty="0"/>
          </a:p>
        </p:txBody>
      </p:sp>
      <p:sp>
        <p:nvSpPr>
          <p:cNvPr id="9" name="Text 7"/>
          <p:cNvSpPr/>
          <p:nvPr/>
        </p:nvSpPr>
        <p:spPr>
          <a:xfrm>
            <a:off x="4436533" y="3843015"/>
            <a:ext cx="341850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5EC"/>
                </a:solidFill>
                <a:latin typeface="IBM Plex Sans" pitchFamily="34" charset="0"/>
                <a:ea typeface="IBM Plex Sans" pitchFamily="34" charset="-122"/>
                <a:cs typeface="IBM Plex Sans" pitchFamily="34" charset="-120"/>
              </a:rPr>
              <a:t>reciben el alta de oncología; lo atiende sobre todo medicina interna.</a:t>
            </a:r>
            <a:endParaRPr lang="en-US" sz="1400" dirty="0"/>
          </a:p>
        </p:txBody>
      </p:sp>
      <p:sp>
        <p:nvSpPr>
          <p:cNvPr id="10" name="Shape 8"/>
          <p:cNvSpPr/>
          <p:nvPr/>
        </p:nvSpPr>
        <p:spPr>
          <a:xfrm>
            <a:off x="8060267" y="2955330"/>
            <a:ext cx="3318933" cy="0"/>
          </a:xfrm>
          <a:prstGeom prst="line">
            <a:avLst/>
          </a:prstGeom>
          <a:noFill/>
          <a:ln w="12700">
            <a:solidFill>
              <a:srgbClr val="7B6FD6"/>
            </a:solidFill>
            <a:prstDash val="solid"/>
          </a:ln>
        </p:spPr>
      </p:sp>
      <p:sp>
        <p:nvSpPr>
          <p:cNvPr id="11" name="Text 9"/>
          <p:cNvSpPr/>
          <p:nvPr/>
        </p:nvSpPr>
        <p:spPr>
          <a:xfrm>
            <a:off x="8060267" y="3139480"/>
            <a:ext cx="3418501"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CFCFB"/>
                </a:solidFill>
                <a:latin typeface="Source Serif 4" pitchFamily="18" charset="0"/>
                <a:ea typeface="Source Serif 4" pitchFamily="18" charset="-122"/>
                <a:cs typeface="Source Serif 4" pitchFamily="18" charset="-120"/>
              </a:rPr>
              <a:t>15 vs. 10</a:t>
            </a:r>
            <a:endParaRPr lang="en-US" sz="3600" dirty="0"/>
          </a:p>
        </p:txBody>
      </p:sp>
      <p:sp>
        <p:nvSpPr>
          <p:cNvPr id="12" name="Text 10"/>
          <p:cNvSpPr/>
          <p:nvPr/>
        </p:nvSpPr>
        <p:spPr>
          <a:xfrm>
            <a:off x="8060267" y="3843015"/>
            <a:ext cx="3418501"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5EC"/>
                </a:solidFill>
                <a:latin typeface="IBM Plex Sans" pitchFamily="34" charset="0"/>
                <a:ea typeface="IBM Plex Sans" pitchFamily="34" charset="-122"/>
                <a:cs typeface="IBM Plex Sans" pitchFamily="34" charset="-120"/>
              </a:rPr>
              <a:t>muertes ajustadas de cada 100 frente a colorrectal y próstata: llegar grave no lo explica todo.</a:t>
            </a:r>
            <a:endParaRPr lang="en-US" sz="1400" dirty="0"/>
          </a:p>
        </p:txBody>
      </p:sp>
      <p:sp>
        <p:nvSpPr>
          <p:cNvPr id="13" name="Text 11"/>
          <p:cNvSpPr/>
          <p:nvPr/>
        </p:nvSpPr>
        <p:spPr>
          <a:xfrm>
            <a:off x="812800" y="5618497"/>
            <a:ext cx="10883392"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9C3EF"/>
                </a:solidFill>
                <a:latin typeface="Source Serif 4" pitchFamily="18" charset="0"/>
                <a:ea typeface="Source Serif 4" pitchFamily="18" charset="-122"/>
                <a:cs typeface="Source Serif 4" pitchFamily="18" charset="-120"/>
              </a:rPr>
              <a:t>¿Preguntas?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pic>
        <p:nvPicPr>
          <p:cNvPr id="2" name="Image 0" descr="Especialidad que da el alta por grupo: medicina interna y oncología">    </p:cNvPr>
          <p:cNvPicPr>
            <a:picLocks noChangeAspect="1"/>
          </p:cNvPicPr>
          <p:nvPr/>
        </p:nvPicPr>
        <p:blipFill>
          <a:blip r:embed="rId1"/>
          <a:srcRect l="0" r="0" t="-10454" b="-10454"/>
          <a:stretch/>
        </p:blipFill>
        <p:spPr>
          <a:xfrm>
            <a:off x="406400" y="254000"/>
            <a:ext cx="11379200" cy="5080000"/>
          </a:xfrm>
          <a:prstGeom prst="rect">
            <a:avLst/>
          </a:prstGeom>
        </p:spPr>
      </p:pic>
      <p:sp>
        <p:nvSpPr>
          <p:cNvPr id="3" name="Shape 0"/>
          <p:cNvSpPr/>
          <p:nvPr/>
        </p:nvSpPr>
        <p:spPr>
          <a:xfrm>
            <a:off x="425450" y="5461000"/>
            <a:ext cx="0" cy="290777"/>
          </a:xfrm>
          <a:prstGeom prst="line">
            <a:avLst/>
          </a:prstGeom>
          <a:noFill/>
          <a:ln w="38100">
            <a:solidFill>
              <a:srgbClr val="4A3AA7"/>
            </a:solidFill>
            <a:prstDash val="solid"/>
          </a:ln>
        </p:spPr>
      </p:sp>
      <p:sp>
        <p:nvSpPr>
          <p:cNvPr id="4" name="Text 1"/>
          <p:cNvSpPr/>
          <p:nvPr/>
        </p:nvSpPr>
        <p:spPr>
          <a:xfrm>
            <a:off x="571500" y="5486400"/>
            <a:ext cx="11550523" cy="265377"/>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C1A2E"/>
                </a:solidFill>
                <a:latin typeface="IBM Plex Sans" pitchFamily="34" charset="0"/>
                <a:ea typeface="IBM Plex Sans" pitchFamily="34" charset="-122"/>
                <a:cs typeface="IBM Plex Sans" pitchFamily="34" charset="-120"/>
              </a:rPr>
              <a:t>Lectura:</a:t>
            </a:r>
            <a:r>
              <a:rPr lang="en-US" sz="1400" dirty="0">
                <a:solidFill>
                  <a:srgbClr val="1C1A2E"/>
                </a:solidFill>
                <a:latin typeface="IBM Plex Sans" pitchFamily="34" charset="0"/>
                <a:ea typeface="IBM Plex Sans" pitchFamily="34" charset="-122"/>
                <a:cs typeface="IBM Plex Sans" pitchFamily="34" charset="-120"/>
              </a:rPr>
              <a:t> oncología da el alta en 5 de cada 100 hospitalizaciones por CUP, la cifra más baja de los seis grupos.</a:t>
            </a:r>
            <a:endParaRPr lang="en-US" sz="1400" dirty="0"/>
          </a:p>
        </p:txBody>
      </p:sp>
      <p:sp>
        <p:nvSpPr>
          <p:cNvPr id="5" name="Text 2"/>
          <p:cNvSpPr/>
          <p:nvPr/>
        </p:nvSpPr>
        <p:spPr>
          <a:xfrm>
            <a:off x="406400" y="6339880"/>
            <a:ext cx="3212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¿Quién lo atiende?</a:t>
            </a:r>
            <a:endParaRPr lang="en-US" sz="1200" dirty="0"/>
          </a:p>
        </p:txBody>
      </p:sp>
      <p:sp>
        <p:nvSpPr>
          <p:cNvPr id="6" name="Text 3"/>
          <p:cNvSpPr/>
          <p:nvPr/>
        </p:nvSpPr>
        <p:spPr>
          <a:xfrm>
            <a:off x="10654427" y="6339880"/>
            <a:ext cx="11311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C7A"/>
                </a:solidFill>
                <a:latin typeface="IBM Plex Sans" pitchFamily="34" charset="0"/>
                <a:ea typeface="IBM Plex Sans" pitchFamily="34" charset="-122"/>
                <a:cs typeface="IBM Plex Sans" pitchFamily="34" charset="-120"/>
              </a:rPr>
              <a:t>Presenta: Agustín · 8</a:t>
            </a:r>
            <a:endParaRPr lang="en-US" sz="1200" dirty="0"/>
          </a:p>
        </p:txBody>
      </p:sp>
    </p:spTree>
  </p:cSld>
  <p:clrMapOvr>
    <a:masterClrMapping/>
  </p:clrMapOvr>
</p:sld>
</file>

<file path=ppt/theme/theme1.xml><?xml version="1.0" encoding="utf-8"?>
<a:theme xmlns:a="http://schemas.openxmlformats.org/drawingml/2006/main" name="Dashboard CUP Chile — Primer avance">
  <a:themeElements>
    <a:clrScheme name="Dashboard CUP Chile — Primer avance">
      <a:dk1>
        <a:srgbClr val="1C1A2E"/>
      </a:dk1>
      <a:lt1>
        <a:srgbClr val="FCFCFB"/>
      </a:lt1>
      <a:dk2>
        <a:srgbClr val="545361"/>
      </a:dk2>
      <a:lt2>
        <a:srgbClr val="E6E5E7"/>
      </a:lt2>
      <a:accent1>
        <a:srgbClr val="4A3AA7"/>
      </a:accent1>
      <a:accent2>
        <a:srgbClr val="C9C3EF"/>
      </a:accent2>
      <a:accent3>
        <a:srgbClr val="7B6FD6"/>
      </a:accent3>
      <a:accent4>
        <a:srgbClr val="FF9A6E"/>
      </a:accent4>
      <a:accent5>
        <a:srgbClr val="6E6C7A"/>
      </a:accent5>
      <a:accent6>
        <a:srgbClr val="3F3D4F"/>
      </a:accent6>
      <a:hlink>
        <a:srgbClr val="0563C1"/>
      </a:hlink>
      <a:folHlink>
        <a:srgbClr val="954F72"/>
      </a:folHlink>
    </a:clrScheme>
    <a:fontScheme name="Dashboard CUP Chile — Primer avanc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Dashboard CUP Chile — Primer avance</dc:title>
  <dc:subject/>
  <dc:creator/>
  <cp:lastModifiedBy/>
  <cp:revision>1</cp:revision>
  <dcterms:created xsi:type="dcterms:W3CDTF">2026-10-15T02:48:39Z</dcterms:created>
  <dcterms:modified xsi:type="dcterms:W3CDTF">2026-10-15T02:48:39Z</dcterms:modified>
</cp:coreProperties>
</file>